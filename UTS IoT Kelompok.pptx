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Heebo Light" pitchFamily="2" charset="-79"/>
      <p:regular r:id="rId14"/>
    </p:embeddedFont>
    <p:embeddedFont>
      <p:font typeface="Montserrat"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708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11597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Nama Kelompok : </a:t>
            </a:r>
            <a:endParaRPr lang="en-US" sz="4450" dirty="0"/>
          </a:p>
        </p:txBody>
      </p:sp>
      <p:sp>
        <p:nvSpPr>
          <p:cNvPr id="3" name="Text 1"/>
          <p:cNvSpPr/>
          <p:nvPr/>
        </p:nvSpPr>
        <p:spPr>
          <a:xfrm>
            <a:off x="793790" y="327838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cs typeface="Heebo Light" pitchFamily="34" charset="-120"/>
              </a:rPr>
              <a:t>Muhamad Farras Jasir</a:t>
            </a:r>
            <a:endParaRPr lang="en-US" sz="1750" dirty="0"/>
          </a:p>
        </p:txBody>
      </p:sp>
      <p:sp>
        <p:nvSpPr>
          <p:cNvPr id="4" name="Text 2"/>
          <p:cNvSpPr/>
          <p:nvPr/>
        </p:nvSpPr>
        <p:spPr>
          <a:xfrm>
            <a:off x="793790" y="389643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 3"/>
          <p:cNvSpPr/>
          <p:nvPr/>
        </p:nvSpPr>
        <p:spPr>
          <a:xfrm>
            <a:off x="793790" y="4514493"/>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4"/>
          <p:cNvSpPr/>
          <p:nvPr/>
        </p:nvSpPr>
        <p:spPr>
          <a:xfrm>
            <a:off x="793790" y="513254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Text 5"/>
          <p:cNvSpPr/>
          <p:nvPr/>
        </p:nvSpPr>
        <p:spPr>
          <a:xfrm>
            <a:off x="793790" y="5750600"/>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7773" y="875535"/>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Sistem Absensi Siswa Berbasis IoT Menggunakan RFID dan Cloud Database</a:t>
            </a:r>
            <a:endParaRPr lang="en-US" sz="4450" dirty="0"/>
          </a:p>
        </p:txBody>
      </p:sp>
      <p:sp>
        <p:nvSpPr>
          <p:cNvPr id="4" name="Text 1"/>
          <p:cNvSpPr/>
          <p:nvPr/>
        </p:nvSpPr>
        <p:spPr>
          <a:xfrm>
            <a:off x="793790" y="412325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Sistem absensi manual di sekolah-sekolah Indonesia masih menggunakan buku atau kertas yang memiliki banyak kelemahan seperti human error, pemrosesan data lambat, dan tidak real-time. Dengan perkembangan Internet of Things (IoT), kami mengusulkan sistem absensi yang lebih efisien menggunakan RFID dan Cloud Database.</a:t>
            </a:r>
            <a:endParaRPr lang="en-US" sz="1750" dirty="0"/>
          </a:p>
        </p:txBody>
      </p:sp>
      <p:sp>
        <p:nvSpPr>
          <p:cNvPr id="5" name="Text 2"/>
          <p:cNvSpPr/>
          <p:nvPr/>
        </p:nvSpPr>
        <p:spPr>
          <a:xfrm>
            <a:off x="793790" y="619291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Proyek ini bertujuan menggantikan sistem manual dengan teknologi IoT, meningkatkan akurasi pencatatan kehadiran, dan memberikan kemudahan monitoring bagi guru dan orang tua melalui notifikasi real-time.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1405" y="938927"/>
            <a:ext cx="7333178" cy="679847"/>
          </a:xfrm>
          <a:prstGeom prst="rect">
            <a:avLst/>
          </a:prstGeom>
          <a:noFill/>
          <a:ln/>
        </p:spPr>
        <p:txBody>
          <a:bodyPr wrap="none" lIns="0" tIns="0" rIns="0" bIns="0" rtlCol="0" anchor="t"/>
          <a:lstStyle/>
          <a:p>
            <a:pPr marL="0" indent="0" algn="l">
              <a:lnSpc>
                <a:spcPts val="5350"/>
              </a:lnSpc>
              <a:buNone/>
            </a:pPr>
            <a:r>
              <a:rPr lang="en-US" sz="4250" dirty="0">
                <a:solidFill>
                  <a:srgbClr val="F2F0F4"/>
                </a:solidFill>
                <a:latin typeface="Montserrat" pitchFamily="34" charset="0"/>
                <a:ea typeface="Montserrat" pitchFamily="34" charset="-122"/>
                <a:cs typeface="Montserrat" pitchFamily="34" charset="-120"/>
              </a:rPr>
              <a:t>Latar Belakang dan Tujuan</a:t>
            </a:r>
            <a:endParaRPr lang="en-US" sz="4250" dirty="0"/>
          </a:p>
        </p:txBody>
      </p:sp>
      <p:sp>
        <p:nvSpPr>
          <p:cNvPr id="4" name="Shape 1"/>
          <p:cNvSpPr/>
          <p:nvPr/>
        </p:nvSpPr>
        <p:spPr>
          <a:xfrm>
            <a:off x="761405" y="1945005"/>
            <a:ext cx="489466" cy="489466"/>
          </a:xfrm>
          <a:prstGeom prst="roundRect">
            <a:avLst>
              <a:gd name="adj" fmla="val 18668"/>
            </a:avLst>
          </a:prstGeom>
          <a:solidFill>
            <a:srgbClr val="31136C"/>
          </a:solidFill>
          <a:ln w="7620">
            <a:solidFill>
              <a:srgbClr val="4A2C85"/>
            </a:solidFill>
            <a:prstDash val="solid"/>
          </a:ln>
        </p:spPr>
      </p:sp>
      <p:pic>
        <p:nvPicPr>
          <p:cNvPr id="5" name="Image 1" descr="preencoded.png"/>
          <p:cNvPicPr>
            <a:picLocks noChangeAspect="1"/>
          </p:cNvPicPr>
          <p:nvPr/>
        </p:nvPicPr>
        <p:blipFill>
          <a:blip r:embed="rId4"/>
          <a:stretch>
            <a:fillRect/>
          </a:stretch>
        </p:blipFill>
        <p:spPr>
          <a:xfrm>
            <a:off x="842963" y="1985724"/>
            <a:ext cx="326231" cy="407908"/>
          </a:xfrm>
          <a:prstGeom prst="rect">
            <a:avLst/>
          </a:prstGeom>
        </p:spPr>
      </p:pic>
      <p:sp>
        <p:nvSpPr>
          <p:cNvPr id="6" name="Text 2"/>
          <p:cNvSpPr/>
          <p:nvPr/>
        </p:nvSpPr>
        <p:spPr>
          <a:xfrm>
            <a:off x="1468398" y="2019776"/>
            <a:ext cx="2967633" cy="679847"/>
          </a:xfrm>
          <a:prstGeom prst="rect">
            <a:avLst/>
          </a:prstGeom>
          <a:noFill/>
          <a:ln/>
        </p:spPr>
        <p:txBody>
          <a:bodyPr wrap="squar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Kelemahan Sistem Manual</a:t>
            </a:r>
            <a:endParaRPr lang="en-US" sz="2100" dirty="0"/>
          </a:p>
        </p:txBody>
      </p:sp>
      <p:sp>
        <p:nvSpPr>
          <p:cNvPr id="7" name="Text 3"/>
          <p:cNvSpPr/>
          <p:nvPr/>
        </p:nvSpPr>
        <p:spPr>
          <a:xfrm>
            <a:off x="1468398" y="2830116"/>
            <a:ext cx="2967633" cy="2436138"/>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Human error (salah hitung, data hilang), lambat dalam pemrosesan data, dan tidak real-time sehingga orang tua tidak bisa memantau kehadiran anak secara langsung.</a:t>
            </a:r>
            <a:endParaRPr lang="en-US" sz="1700" dirty="0"/>
          </a:p>
        </p:txBody>
      </p:sp>
      <p:sp>
        <p:nvSpPr>
          <p:cNvPr id="8" name="Shape 4"/>
          <p:cNvSpPr/>
          <p:nvPr/>
        </p:nvSpPr>
        <p:spPr>
          <a:xfrm>
            <a:off x="4707969" y="1945005"/>
            <a:ext cx="489466" cy="489466"/>
          </a:xfrm>
          <a:prstGeom prst="roundRect">
            <a:avLst>
              <a:gd name="adj" fmla="val 18668"/>
            </a:avLst>
          </a:prstGeom>
          <a:solidFill>
            <a:srgbClr val="31136C"/>
          </a:solidFill>
          <a:ln w="7620">
            <a:solidFill>
              <a:srgbClr val="4A2C85"/>
            </a:solidFill>
            <a:prstDash val="solid"/>
          </a:ln>
        </p:spPr>
      </p:sp>
      <p:pic>
        <p:nvPicPr>
          <p:cNvPr id="9" name="Image 2" descr="preencoded.png"/>
          <p:cNvPicPr>
            <a:picLocks noChangeAspect="1"/>
          </p:cNvPicPr>
          <p:nvPr/>
        </p:nvPicPr>
        <p:blipFill>
          <a:blip r:embed="rId5"/>
          <a:stretch>
            <a:fillRect/>
          </a:stretch>
        </p:blipFill>
        <p:spPr>
          <a:xfrm>
            <a:off x="4789527" y="1985724"/>
            <a:ext cx="326231" cy="407908"/>
          </a:xfrm>
          <a:prstGeom prst="rect">
            <a:avLst/>
          </a:prstGeom>
        </p:spPr>
      </p:pic>
      <p:sp>
        <p:nvSpPr>
          <p:cNvPr id="10" name="Text 5"/>
          <p:cNvSpPr/>
          <p:nvPr/>
        </p:nvSpPr>
        <p:spPr>
          <a:xfrm>
            <a:off x="5414963" y="2019776"/>
            <a:ext cx="2719507" cy="339923"/>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Solusi IoT</a:t>
            </a:r>
            <a:endParaRPr lang="en-US" sz="2100" dirty="0"/>
          </a:p>
        </p:txBody>
      </p:sp>
      <p:sp>
        <p:nvSpPr>
          <p:cNvPr id="11" name="Text 6"/>
          <p:cNvSpPr/>
          <p:nvPr/>
        </p:nvSpPr>
        <p:spPr>
          <a:xfrm>
            <a:off x="5414963" y="2490192"/>
            <a:ext cx="2967633" cy="2088118"/>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Absensi otomatis saat siswa menempelkan kartu RFID, penyimpanan data di cloud untuk akses mudah, dan notifikasi real-time ke orang tua via WhatsApp/Email.</a:t>
            </a:r>
            <a:endParaRPr lang="en-US" sz="1700" dirty="0"/>
          </a:p>
        </p:txBody>
      </p:sp>
      <p:sp>
        <p:nvSpPr>
          <p:cNvPr id="12" name="Shape 7"/>
          <p:cNvSpPr/>
          <p:nvPr/>
        </p:nvSpPr>
        <p:spPr>
          <a:xfrm>
            <a:off x="761405" y="5701308"/>
            <a:ext cx="489466" cy="489466"/>
          </a:xfrm>
          <a:prstGeom prst="roundRect">
            <a:avLst>
              <a:gd name="adj" fmla="val 18668"/>
            </a:avLst>
          </a:prstGeom>
          <a:solidFill>
            <a:srgbClr val="31136C"/>
          </a:solidFill>
          <a:ln w="7620">
            <a:solidFill>
              <a:srgbClr val="4A2C85"/>
            </a:solidFill>
            <a:prstDash val="solid"/>
          </a:ln>
        </p:spPr>
      </p:sp>
      <p:pic>
        <p:nvPicPr>
          <p:cNvPr id="13" name="Image 3" descr="preencoded.png"/>
          <p:cNvPicPr>
            <a:picLocks noChangeAspect="1"/>
          </p:cNvPicPr>
          <p:nvPr/>
        </p:nvPicPr>
        <p:blipFill>
          <a:blip r:embed="rId6"/>
          <a:stretch>
            <a:fillRect/>
          </a:stretch>
        </p:blipFill>
        <p:spPr>
          <a:xfrm>
            <a:off x="842963" y="5742027"/>
            <a:ext cx="326231" cy="407908"/>
          </a:xfrm>
          <a:prstGeom prst="rect">
            <a:avLst/>
          </a:prstGeom>
        </p:spPr>
      </p:pic>
      <p:sp>
        <p:nvSpPr>
          <p:cNvPr id="14" name="Text 8"/>
          <p:cNvSpPr/>
          <p:nvPr/>
        </p:nvSpPr>
        <p:spPr>
          <a:xfrm>
            <a:off x="1468398" y="5776079"/>
            <a:ext cx="2719507" cy="339923"/>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Tujuan Proyek</a:t>
            </a:r>
            <a:endParaRPr lang="en-US" sz="2100" dirty="0"/>
          </a:p>
        </p:txBody>
      </p:sp>
      <p:sp>
        <p:nvSpPr>
          <p:cNvPr id="15" name="Text 9"/>
          <p:cNvSpPr/>
          <p:nvPr/>
        </p:nvSpPr>
        <p:spPr>
          <a:xfrm>
            <a:off x="1468398" y="6246495"/>
            <a:ext cx="6914198" cy="1044059"/>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Menggantikan sistem absensi manual, meningkatkan akurasi dan kecepatan pencatatan kehadiran, serta memberikan kemudahan monitoring bagi guru dan orang tua.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77058"/>
            <a:ext cx="7759065"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Manfaat Sistem Absensi IoT</a:t>
            </a:r>
            <a:endParaRPr lang="en-US" sz="4450" dirty="0"/>
          </a:p>
        </p:txBody>
      </p:sp>
      <p:sp>
        <p:nvSpPr>
          <p:cNvPr id="3" name="Text 1"/>
          <p:cNvSpPr/>
          <p:nvPr/>
        </p:nvSpPr>
        <p:spPr>
          <a:xfrm>
            <a:off x="793790"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F0F4"/>
                </a:solidFill>
                <a:latin typeface="Montserrat" pitchFamily="34" charset="0"/>
                <a:ea typeface="Montserrat" pitchFamily="34" charset="-122"/>
                <a:cs typeface="Montserrat" pitchFamily="34" charset="-120"/>
              </a:rPr>
              <a:t>Bagi Sekolah</a:t>
            </a:r>
            <a:endParaRPr lang="en-US" sz="2200" dirty="0"/>
          </a:p>
        </p:txBody>
      </p:sp>
      <p:sp>
        <p:nvSpPr>
          <p:cNvPr id="4" name="Text 2"/>
          <p:cNvSpPr/>
          <p:nvPr/>
        </p:nvSpPr>
        <p:spPr>
          <a:xfrm>
            <a:off x="793790"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Efisiensi waktu dalam proses absensi harian. Mengurangi kecurangan absen yang sering terjadi pada sistem manual. Data tersimpan secara digital dan aman di cloud database.</a:t>
            </a:r>
            <a:endParaRPr lang="en-US" sz="1750" dirty="0"/>
          </a:p>
        </p:txBody>
      </p:sp>
      <p:sp>
        <p:nvSpPr>
          <p:cNvPr id="5" name="Text 3"/>
          <p:cNvSpPr/>
          <p:nvPr/>
        </p:nvSpPr>
        <p:spPr>
          <a:xfrm>
            <a:off x="5332928"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F0F4"/>
                </a:solidFill>
                <a:latin typeface="Montserrat" pitchFamily="34" charset="0"/>
                <a:ea typeface="Montserrat" pitchFamily="34" charset="-122"/>
                <a:cs typeface="Montserrat" pitchFamily="34" charset="-120"/>
              </a:rPr>
              <a:t>Bagi Guru</a:t>
            </a:r>
            <a:endParaRPr lang="en-US" sz="2200" dirty="0"/>
          </a:p>
        </p:txBody>
      </p:sp>
      <p:sp>
        <p:nvSpPr>
          <p:cNvPr id="6" name="Text 4"/>
          <p:cNvSpPr/>
          <p:nvPr/>
        </p:nvSpPr>
        <p:spPr>
          <a:xfrm>
            <a:off x="5332928"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Memudahkan rekap data kehadiran siswa. Tidak perlu lagi mencatat secara manual di buku absensi. Laporan kehadiran dapat diakses kapan saja melalui dashboard admin.</a:t>
            </a:r>
            <a:endParaRPr lang="en-US" sz="1750" dirty="0"/>
          </a:p>
        </p:txBody>
      </p:sp>
      <p:sp>
        <p:nvSpPr>
          <p:cNvPr id="7" name="Text 5"/>
          <p:cNvSpPr/>
          <p:nvPr/>
        </p:nvSpPr>
        <p:spPr>
          <a:xfrm>
            <a:off x="9872067"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F0F4"/>
                </a:solidFill>
                <a:latin typeface="Montserrat" pitchFamily="34" charset="0"/>
                <a:ea typeface="Montserrat" pitchFamily="34" charset="-122"/>
                <a:cs typeface="Montserrat" pitchFamily="34" charset="-120"/>
              </a:rPr>
              <a:t>Bagi Orang Tua</a:t>
            </a:r>
            <a:endParaRPr lang="en-US" sz="2200" dirty="0"/>
          </a:p>
        </p:txBody>
      </p:sp>
      <p:sp>
        <p:nvSpPr>
          <p:cNvPr id="8" name="Text 6"/>
          <p:cNvSpPr/>
          <p:nvPr/>
        </p:nvSpPr>
        <p:spPr>
          <a:xfrm>
            <a:off x="9872067"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Dapat memantau kehadiran anak secara real-time. Menerima notifikasi langsung saat anak tiba di sekolah. Meningkatkan rasa aman dan kontrol terhadap aktivitas anak.</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195"/>
          </a:xfrm>
          <a:prstGeom prst="rect">
            <a:avLst/>
          </a:prstGeom>
        </p:spPr>
      </p:pic>
      <p:sp>
        <p:nvSpPr>
          <p:cNvPr id="3" name="Text 0"/>
          <p:cNvSpPr/>
          <p:nvPr/>
        </p:nvSpPr>
        <p:spPr>
          <a:xfrm>
            <a:off x="6197679" y="558879"/>
            <a:ext cx="7721441" cy="1269921"/>
          </a:xfrm>
          <a:prstGeom prst="rect">
            <a:avLst/>
          </a:prstGeom>
          <a:noFill/>
          <a:ln/>
        </p:spPr>
        <p:txBody>
          <a:bodyPr wrap="square" lIns="0" tIns="0" rIns="0" bIns="0" rtlCol="0" anchor="t"/>
          <a:lstStyle/>
          <a:p>
            <a:pPr marL="0" indent="0" algn="l">
              <a:lnSpc>
                <a:spcPts val="5000"/>
              </a:lnSpc>
              <a:buNone/>
            </a:pPr>
            <a:r>
              <a:rPr lang="en-US" sz="4000" dirty="0">
                <a:solidFill>
                  <a:srgbClr val="F2F0F4"/>
                </a:solidFill>
                <a:latin typeface="Montserrat" pitchFamily="34" charset="0"/>
                <a:ea typeface="Montserrat" pitchFamily="34" charset="-122"/>
                <a:cs typeface="Montserrat" pitchFamily="34" charset="-120"/>
              </a:rPr>
              <a:t>Analisis Kebutuhan Fungsional</a:t>
            </a:r>
            <a:endParaRPr lang="en-US" sz="4000" dirty="0"/>
          </a:p>
        </p:txBody>
      </p:sp>
      <p:sp>
        <p:nvSpPr>
          <p:cNvPr id="4" name="Shape 1"/>
          <p:cNvSpPr/>
          <p:nvPr/>
        </p:nvSpPr>
        <p:spPr>
          <a:xfrm>
            <a:off x="6197679" y="2133600"/>
            <a:ext cx="7721441" cy="5537716"/>
          </a:xfrm>
          <a:prstGeom prst="roundRect">
            <a:avLst>
              <a:gd name="adj" fmla="val 1541"/>
            </a:avLst>
          </a:prstGeom>
          <a:noFill/>
          <a:ln w="7620">
            <a:solidFill>
              <a:srgbClr val="FFFFFF">
                <a:alpha val="24000"/>
              </a:srgbClr>
            </a:solidFill>
            <a:prstDash val="solid"/>
          </a:ln>
        </p:spPr>
      </p:sp>
      <p:sp>
        <p:nvSpPr>
          <p:cNvPr id="5" name="Shape 2"/>
          <p:cNvSpPr/>
          <p:nvPr/>
        </p:nvSpPr>
        <p:spPr>
          <a:xfrm>
            <a:off x="6205299" y="2141220"/>
            <a:ext cx="7705368" cy="584240"/>
          </a:xfrm>
          <a:prstGeom prst="rect">
            <a:avLst/>
          </a:prstGeom>
          <a:solidFill>
            <a:srgbClr val="FFFFFF">
              <a:alpha val="4000"/>
            </a:srgbClr>
          </a:solidFill>
          <a:ln/>
        </p:spPr>
      </p:sp>
      <p:sp>
        <p:nvSpPr>
          <p:cNvPr id="6" name="Text 3"/>
          <p:cNvSpPr/>
          <p:nvPr/>
        </p:nvSpPr>
        <p:spPr>
          <a:xfrm>
            <a:off x="6409253" y="2270760"/>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No</a:t>
            </a:r>
            <a:endParaRPr lang="en-US" sz="1600" dirty="0"/>
          </a:p>
        </p:txBody>
      </p:sp>
      <p:sp>
        <p:nvSpPr>
          <p:cNvPr id="7" name="Text 4"/>
          <p:cNvSpPr/>
          <p:nvPr/>
        </p:nvSpPr>
        <p:spPr>
          <a:xfrm>
            <a:off x="8981242" y="2270760"/>
            <a:ext cx="215431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Fitur</a:t>
            </a:r>
            <a:endParaRPr lang="en-US" sz="1600" dirty="0"/>
          </a:p>
        </p:txBody>
      </p:sp>
      <p:sp>
        <p:nvSpPr>
          <p:cNvPr id="8" name="Text 5"/>
          <p:cNvSpPr/>
          <p:nvPr/>
        </p:nvSpPr>
        <p:spPr>
          <a:xfrm>
            <a:off x="11549420" y="2270760"/>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Deskripsi</a:t>
            </a:r>
            <a:endParaRPr lang="en-US" sz="1600" dirty="0"/>
          </a:p>
        </p:txBody>
      </p:sp>
      <p:sp>
        <p:nvSpPr>
          <p:cNvPr id="9" name="Shape 6"/>
          <p:cNvSpPr/>
          <p:nvPr/>
        </p:nvSpPr>
        <p:spPr>
          <a:xfrm>
            <a:off x="6205299" y="2725460"/>
            <a:ext cx="7705368" cy="1234559"/>
          </a:xfrm>
          <a:prstGeom prst="rect">
            <a:avLst/>
          </a:prstGeom>
          <a:solidFill>
            <a:srgbClr val="000000">
              <a:alpha val="4000"/>
            </a:srgbClr>
          </a:solidFill>
          <a:ln/>
        </p:spPr>
      </p:sp>
      <p:sp>
        <p:nvSpPr>
          <p:cNvPr id="10" name="Text 7"/>
          <p:cNvSpPr/>
          <p:nvPr/>
        </p:nvSpPr>
        <p:spPr>
          <a:xfrm>
            <a:off x="6409253" y="2855000"/>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1</a:t>
            </a:r>
            <a:endParaRPr lang="en-US" sz="1600" dirty="0"/>
          </a:p>
        </p:txBody>
      </p:sp>
      <p:sp>
        <p:nvSpPr>
          <p:cNvPr id="11" name="Text 8"/>
          <p:cNvSpPr/>
          <p:nvPr/>
        </p:nvSpPr>
        <p:spPr>
          <a:xfrm>
            <a:off x="8981242" y="2855000"/>
            <a:ext cx="215431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Pembacaan RFID</a:t>
            </a:r>
            <a:endParaRPr lang="en-US" sz="1600" dirty="0"/>
          </a:p>
        </p:txBody>
      </p:sp>
      <p:sp>
        <p:nvSpPr>
          <p:cNvPr id="12" name="Text 9"/>
          <p:cNvSpPr/>
          <p:nvPr/>
        </p:nvSpPr>
        <p:spPr>
          <a:xfrm>
            <a:off x="11549420" y="2855000"/>
            <a:ext cx="2158127" cy="975479"/>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Sistem membaca ID unik dari kartu RFID siswa.</a:t>
            </a:r>
            <a:endParaRPr lang="en-US" sz="1600" dirty="0"/>
          </a:p>
        </p:txBody>
      </p:sp>
      <p:sp>
        <p:nvSpPr>
          <p:cNvPr id="13" name="Shape 10"/>
          <p:cNvSpPr/>
          <p:nvPr/>
        </p:nvSpPr>
        <p:spPr>
          <a:xfrm>
            <a:off x="6205299" y="3960019"/>
            <a:ext cx="7705368" cy="909399"/>
          </a:xfrm>
          <a:prstGeom prst="rect">
            <a:avLst/>
          </a:prstGeom>
          <a:solidFill>
            <a:srgbClr val="FFFFFF">
              <a:alpha val="4000"/>
            </a:srgbClr>
          </a:solidFill>
          <a:ln/>
        </p:spPr>
      </p:sp>
      <p:sp>
        <p:nvSpPr>
          <p:cNvPr id="14" name="Text 11"/>
          <p:cNvSpPr/>
          <p:nvPr/>
        </p:nvSpPr>
        <p:spPr>
          <a:xfrm>
            <a:off x="6409253" y="4089559"/>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2</a:t>
            </a:r>
            <a:endParaRPr lang="en-US" sz="1600" dirty="0"/>
          </a:p>
        </p:txBody>
      </p:sp>
      <p:sp>
        <p:nvSpPr>
          <p:cNvPr id="15" name="Text 12"/>
          <p:cNvSpPr/>
          <p:nvPr/>
        </p:nvSpPr>
        <p:spPr>
          <a:xfrm>
            <a:off x="8981242" y="4089559"/>
            <a:ext cx="215431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Penyimpanan Data</a:t>
            </a:r>
            <a:endParaRPr lang="en-US" sz="1600" dirty="0"/>
          </a:p>
        </p:txBody>
      </p:sp>
      <p:sp>
        <p:nvSpPr>
          <p:cNvPr id="16" name="Text 13"/>
          <p:cNvSpPr/>
          <p:nvPr/>
        </p:nvSpPr>
        <p:spPr>
          <a:xfrm>
            <a:off x="11549420" y="4089559"/>
            <a:ext cx="2158127" cy="650319"/>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Data kehadiran dikirim ke cloud database.</a:t>
            </a:r>
            <a:endParaRPr lang="en-US" sz="1600" dirty="0"/>
          </a:p>
        </p:txBody>
      </p:sp>
      <p:sp>
        <p:nvSpPr>
          <p:cNvPr id="17" name="Shape 14"/>
          <p:cNvSpPr/>
          <p:nvPr/>
        </p:nvSpPr>
        <p:spPr>
          <a:xfrm>
            <a:off x="6205299" y="4869418"/>
            <a:ext cx="7705368" cy="1559719"/>
          </a:xfrm>
          <a:prstGeom prst="rect">
            <a:avLst/>
          </a:prstGeom>
          <a:solidFill>
            <a:srgbClr val="000000">
              <a:alpha val="4000"/>
            </a:srgbClr>
          </a:solidFill>
          <a:ln/>
        </p:spPr>
      </p:sp>
      <p:sp>
        <p:nvSpPr>
          <p:cNvPr id="18" name="Text 15"/>
          <p:cNvSpPr/>
          <p:nvPr/>
        </p:nvSpPr>
        <p:spPr>
          <a:xfrm>
            <a:off x="6409253" y="4998958"/>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3</a:t>
            </a:r>
            <a:endParaRPr lang="en-US" sz="1600" dirty="0"/>
          </a:p>
        </p:txBody>
      </p:sp>
      <p:sp>
        <p:nvSpPr>
          <p:cNvPr id="19" name="Text 16"/>
          <p:cNvSpPr/>
          <p:nvPr/>
        </p:nvSpPr>
        <p:spPr>
          <a:xfrm>
            <a:off x="8981242" y="4998958"/>
            <a:ext cx="215431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Notifikasi</a:t>
            </a:r>
            <a:endParaRPr lang="en-US" sz="1600" dirty="0"/>
          </a:p>
        </p:txBody>
      </p:sp>
      <p:sp>
        <p:nvSpPr>
          <p:cNvPr id="20" name="Text 17"/>
          <p:cNvSpPr/>
          <p:nvPr/>
        </p:nvSpPr>
        <p:spPr>
          <a:xfrm>
            <a:off x="11549420" y="4998958"/>
            <a:ext cx="2158127" cy="1300639"/>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Orang tua/guru mendapat pemberitahuan via WhatsApp/Email.</a:t>
            </a:r>
            <a:endParaRPr lang="en-US" sz="1600" dirty="0"/>
          </a:p>
        </p:txBody>
      </p:sp>
      <p:sp>
        <p:nvSpPr>
          <p:cNvPr id="21" name="Shape 18"/>
          <p:cNvSpPr/>
          <p:nvPr/>
        </p:nvSpPr>
        <p:spPr>
          <a:xfrm>
            <a:off x="6205299" y="6429137"/>
            <a:ext cx="7705368" cy="1234559"/>
          </a:xfrm>
          <a:prstGeom prst="rect">
            <a:avLst/>
          </a:prstGeom>
          <a:solidFill>
            <a:srgbClr val="FFFFFF">
              <a:alpha val="4000"/>
            </a:srgbClr>
          </a:solidFill>
          <a:ln/>
        </p:spPr>
      </p:sp>
      <p:sp>
        <p:nvSpPr>
          <p:cNvPr id="22" name="Text 19"/>
          <p:cNvSpPr/>
          <p:nvPr/>
        </p:nvSpPr>
        <p:spPr>
          <a:xfrm>
            <a:off x="6409253" y="6558677"/>
            <a:ext cx="215812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4</a:t>
            </a:r>
            <a:endParaRPr lang="en-US" sz="1600" dirty="0"/>
          </a:p>
        </p:txBody>
      </p:sp>
      <p:sp>
        <p:nvSpPr>
          <p:cNvPr id="23" name="Text 20"/>
          <p:cNvSpPr/>
          <p:nvPr/>
        </p:nvSpPr>
        <p:spPr>
          <a:xfrm>
            <a:off x="8981242" y="6558677"/>
            <a:ext cx="2154317" cy="325160"/>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Dashboard Admin</a:t>
            </a:r>
            <a:endParaRPr lang="en-US" sz="1600" dirty="0"/>
          </a:p>
        </p:txBody>
      </p:sp>
      <p:sp>
        <p:nvSpPr>
          <p:cNvPr id="24" name="Text 21"/>
          <p:cNvSpPr/>
          <p:nvPr/>
        </p:nvSpPr>
        <p:spPr>
          <a:xfrm>
            <a:off x="11549420" y="6558677"/>
            <a:ext cx="2158127" cy="975479"/>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Antarmuka untuk melihat laporan kehadiran.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4260" y="753428"/>
            <a:ext cx="7655481" cy="1328976"/>
          </a:xfrm>
          <a:prstGeom prst="rect">
            <a:avLst/>
          </a:prstGeom>
          <a:noFill/>
          <a:ln/>
        </p:spPr>
        <p:txBody>
          <a:bodyPr wrap="square" lIns="0" tIns="0" rIns="0" bIns="0" rtlCol="0" anchor="t"/>
          <a:lstStyle/>
          <a:p>
            <a:pPr marL="0" indent="0" algn="l">
              <a:lnSpc>
                <a:spcPts val="5200"/>
              </a:lnSpc>
              <a:buNone/>
            </a:pPr>
            <a:r>
              <a:rPr lang="en-US" sz="4150" dirty="0">
                <a:solidFill>
                  <a:srgbClr val="F2F0F4"/>
                </a:solidFill>
                <a:latin typeface="Montserrat" pitchFamily="34" charset="0"/>
                <a:ea typeface="Montserrat" pitchFamily="34" charset="-122"/>
                <a:cs typeface="Montserrat" pitchFamily="34" charset="-120"/>
              </a:rPr>
              <a:t>Analisis Kebutuhan Non-Fungsional</a:t>
            </a:r>
            <a:endParaRPr lang="en-US" sz="4150" dirty="0"/>
          </a:p>
        </p:txBody>
      </p:sp>
      <p:sp>
        <p:nvSpPr>
          <p:cNvPr id="4" name="Shape 1"/>
          <p:cNvSpPr/>
          <p:nvPr/>
        </p:nvSpPr>
        <p:spPr>
          <a:xfrm>
            <a:off x="744260" y="2401372"/>
            <a:ext cx="3721418" cy="2941320"/>
          </a:xfrm>
          <a:prstGeom prst="roundRect">
            <a:avLst>
              <a:gd name="adj" fmla="val 3037"/>
            </a:avLst>
          </a:prstGeom>
          <a:solidFill>
            <a:srgbClr val="31136C"/>
          </a:solidFill>
          <a:ln w="7620">
            <a:solidFill>
              <a:srgbClr val="4A2C85"/>
            </a:solidFill>
            <a:prstDash val="solid"/>
          </a:ln>
        </p:spPr>
      </p:sp>
      <p:sp>
        <p:nvSpPr>
          <p:cNvPr id="5" name="Text 2"/>
          <p:cNvSpPr/>
          <p:nvPr/>
        </p:nvSpPr>
        <p:spPr>
          <a:xfrm>
            <a:off x="964525" y="2621637"/>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DCD7E5"/>
                </a:solidFill>
                <a:latin typeface="Montserrat" pitchFamily="34" charset="0"/>
                <a:ea typeface="Montserrat" pitchFamily="34" charset="-122"/>
                <a:cs typeface="Montserrat" pitchFamily="34" charset="-120"/>
              </a:rPr>
              <a:t>Keandalan</a:t>
            </a:r>
            <a:endParaRPr lang="en-US" sz="2050" dirty="0"/>
          </a:p>
        </p:txBody>
      </p:sp>
      <p:sp>
        <p:nvSpPr>
          <p:cNvPr id="6" name="Text 3"/>
          <p:cNvSpPr/>
          <p:nvPr/>
        </p:nvSpPr>
        <p:spPr>
          <a:xfrm>
            <a:off x="964525" y="3081457"/>
            <a:ext cx="3280886" cy="2040969"/>
          </a:xfrm>
          <a:prstGeom prst="rect">
            <a:avLst/>
          </a:prstGeom>
          <a:noFill/>
          <a:ln/>
        </p:spPr>
        <p:txBody>
          <a:bodyPr wrap="square" lIns="0" tIns="0" rIns="0" bIns="0" rtlCol="0" anchor="t"/>
          <a:lstStyle/>
          <a:p>
            <a:pPr marL="0" indent="0" algn="l">
              <a:lnSpc>
                <a:spcPts val="2650"/>
              </a:lnSpc>
              <a:buNone/>
            </a:pPr>
            <a:r>
              <a:rPr lang="en-US" sz="1650" dirty="0">
                <a:solidFill>
                  <a:srgbClr val="DCD7E5"/>
                </a:solidFill>
                <a:latin typeface="Heebo Light" pitchFamily="34" charset="0"/>
                <a:ea typeface="Heebo Light" pitchFamily="34" charset="-122"/>
                <a:cs typeface="Heebo Light" pitchFamily="34" charset="-120"/>
              </a:rPr>
              <a:t>Sistem harus bekerja 24/7 dengan backup data untuk memastikan tidak ada informasi kehadiran yang hilang. Harus tetap berfungsi meskipun terjadi gangguan listrik sementara.</a:t>
            </a:r>
            <a:endParaRPr lang="en-US" sz="1650" dirty="0"/>
          </a:p>
        </p:txBody>
      </p:sp>
      <p:sp>
        <p:nvSpPr>
          <p:cNvPr id="7" name="Shape 4"/>
          <p:cNvSpPr/>
          <p:nvPr/>
        </p:nvSpPr>
        <p:spPr>
          <a:xfrm>
            <a:off x="4678323" y="2401372"/>
            <a:ext cx="3721418" cy="2941320"/>
          </a:xfrm>
          <a:prstGeom prst="roundRect">
            <a:avLst>
              <a:gd name="adj" fmla="val 3037"/>
            </a:avLst>
          </a:prstGeom>
          <a:solidFill>
            <a:srgbClr val="31136C"/>
          </a:solidFill>
          <a:ln w="7620">
            <a:solidFill>
              <a:srgbClr val="4A2C85"/>
            </a:solidFill>
            <a:prstDash val="solid"/>
          </a:ln>
        </p:spPr>
      </p:sp>
      <p:sp>
        <p:nvSpPr>
          <p:cNvPr id="8" name="Text 5"/>
          <p:cNvSpPr/>
          <p:nvPr/>
        </p:nvSpPr>
        <p:spPr>
          <a:xfrm>
            <a:off x="4898588" y="2621637"/>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DCD7E5"/>
                </a:solidFill>
                <a:latin typeface="Montserrat" pitchFamily="34" charset="0"/>
                <a:ea typeface="Montserrat" pitchFamily="34" charset="-122"/>
                <a:cs typeface="Montserrat" pitchFamily="34" charset="-120"/>
              </a:rPr>
              <a:t>Keamanan</a:t>
            </a:r>
            <a:endParaRPr lang="en-US" sz="2050" dirty="0"/>
          </a:p>
        </p:txBody>
      </p:sp>
      <p:sp>
        <p:nvSpPr>
          <p:cNvPr id="9" name="Text 6"/>
          <p:cNvSpPr/>
          <p:nvPr/>
        </p:nvSpPr>
        <p:spPr>
          <a:xfrm>
            <a:off x="4898588" y="3081457"/>
            <a:ext cx="3280886" cy="1700808"/>
          </a:xfrm>
          <a:prstGeom prst="rect">
            <a:avLst/>
          </a:prstGeom>
          <a:noFill/>
          <a:ln/>
        </p:spPr>
        <p:txBody>
          <a:bodyPr wrap="square" lIns="0" tIns="0" rIns="0" bIns="0" rtlCol="0" anchor="t"/>
          <a:lstStyle/>
          <a:p>
            <a:pPr marL="0" indent="0" algn="l">
              <a:lnSpc>
                <a:spcPts val="2650"/>
              </a:lnSpc>
              <a:buNone/>
            </a:pPr>
            <a:r>
              <a:rPr lang="en-US" sz="1650" dirty="0">
                <a:solidFill>
                  <a:srgbClr val="DCD7E5"/>
                </a:solidFill>
                <a:latin typeface="Heebo Light" pitchFamily="34" charset="0"/>
                <a:ea typeface="Heebo Light" pitchFamily="34" charset="-122"/>
                <a:cs typeface="Heebo Light" pitchFamily="34" charset="-120"/>
              </a:rPr>
              <a:t>Enkripsi data RFID dan otentikasi login admin untuk melindungi informasi pribadi siswa. Sistem harus aman dari upaya pemalsuan kartu atau manipulasi data.</a:t>
            </a:r>
            <a:endParaRPr lang="en-US" sz="1650" dirty="0"/>
          </a:p>
        </p:txBody>
      </p:sp>
      <p:sp>
        <p:nvSpPr>
          <p:cNvPr id="10" name="Shape 7"/>
          <p:cNvSpPr/>
          <p:nvPr/>
        </p:nvSpPr>
        <p:spPr>
          <a:xfrm>
            <a:off x="744260" y="5555337"/>
            <a:ext cx="7655481" cy="1920835"/>
          </a:xfrm>
          <a:prstGeom prst="roundRect">
            <a:avLst>
              <a:gd name="adj" fmla="val 4650"/>
            </a:avLst>
          </a:prstGeom>
          <a:solidFill>
            <a:srgbClr val="31136C"/>
          </a:solidFill>
          <a:ln w="7620">
            <a:solidFill>
              <a:srgbClr val="4A2C85"/>
            </a:solidFill>
            <a:prstDash val="solid"/>
          </a:ln>
        </p:spPr>
      </p:sp>
      <p:sp>
        <p:nvSpPr>
          <p:cNvPr id="11" name="Text 8"/>
          <p:cNvSpPr/>
          <p:nvPr/>
        </p:nvSpPr>
        <p:spPr>
          <a:xfrm>
            <a:off x="964525" y="5775603"/>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DCD7E5"/>
                </a:solidFill>
                <a:latin typeface="Montserrat" pitchFamily="34" charset="0"/>
                <a:ea typeface="Montserrat" pitchFamily="34" charset="-122"/>
                <a:cs typeface="Montserrat" pitchFamily="34" charset="-120"/>
              </a:rPr>
              <a:t>Kemudahan</a:t>
            </a:r>
            <a:endParaRPr lang="en-US" sz="2050" dirty="0"/>
          </a:p>
        </p:txBody>
      </p:sp>
      <p:sp>
        <p:nvSpPr>
          <p:cNvPr id="12" name="Text 9"/>
          <p:cNvSpPr/>
          <p:nvPr/>
        </p:nvSpPr>
        <p:spPr>
          <a:xfrm>
            <a:off x="964525" y="6235422"/>
            <a:ext cx="7214949" cy="1020485"/>
          </a:xfrm>
          <a:prstGeom prst="rect">
            <a:avLst/>
          </a:prstGeom>
          <a:noFill/>
          <a:ln/>
        </p:spPr>
        <p:txBody>
          <a:bodyPr wrap="square" lIns="0" tIns="0" rIns="0" bIns="0" rtlCol="0" anchor="t"/>
          <a:lstStyle/>
          <a:p>
            <a:pPr marL="0" indent="0" algn="l">
              <a:lnSpc>
                <a:spcPts val="2650"/>
              </a:lnSpc>
              <a:buNone/>
            </a:pPr>
            <a:r>
              <a:rPr lang="en-US" sz="1650" dirty="0">
                <a:solidFill>
                  <a:srgbClr val="DCD7E5"/>
                </a:solidFill>
                <a:latin typeface="Heebo Light" pitchFamily="34" charset="0"/>
                <a:ea typeface="Heebo Light" pitchFamily="34" charset="-122"/>
                <a:cs typeface="Heebo Light" pitchFamily="34" charset="-120"/>
              </a:rPr>
              <a:t>Antarmuka sederhana untuk pengguna (guru/orang tua) agar mudah dioperasikan tanpa pelatihan khusus. Dashboard yang intuitif dengan tampilan visual yang jelas.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63960" y="376476"/>
            <a:ext cx="3554492" cy="426482"/>
          </a:xfrm>
          <a:prstGeom prst="rect">
            <a:avLst/>
          </a:prstGeom>
          <a:noFill/>
          <a:ln/>
        </p:spPr>
        <p:txBody>
          <a:bodyPr wrap="none" lIns="0" tIns="0" rIns="0" bIns="0" rtlCol="0" anchor="t"/>
          <a:lstStyle/>
          <a:p>
            <a:pPr marL="0" indent="0" algn="l">
              <a:lnSpc>
                <a:spcPts val="3350"/>
              </a:lnSpc>
              <a:buNone/>
            </a:pPr>
            <a:r>
              <a:rPr lang="en-US" sz="2650" dirty="0">
                <a:solidFill>
                  <a:srgbClr val="F2F0F4"/>
                </a:solidFill>
                <a:latin typeface="Montserrat" pitchFamily="34" charset="0"/>
                <a:ea typeface="Montserrat" pitchFamily="34" charset="-122"/>
                <a:cs typeface="Montserrat" pitchFamily="34" charset="-120"/>
              </a:rPr>
              <a:t>Analisis Biaya Proyek</a:t>
            </a:r>
            <a:endParaRPr lang="en-US" sz="2650" dirty="0"/>
          </a:p>
        </p:txBody>
      </p:sp>
      <p:sp>
        <p:nvSpPr>
          <p:cNvPr id="4" name="Text 1"/>
          <p:cNvSpPr/>
          <p:nvPr/>
        </p:nvSpPr>
        <p:spPr>
          <a:xfrm>
            <a:off x="5963960" y="1075849"/>
            <a:ext cx="8188881" cy="450294"/>
          </a:xfrm>
          <a:prstGeom prst="rect">
            <a:avLst/>
          </a:prstGeom>
          <a:noFill/>
          <a:ln/>
        </p:spPr>
        <p:txBody>
          <a:bodyPr wrap="none" lIns="0" tIns="0" rIns="0" bIns="0" rtlCol="0" anchor="t"/>
          <a:lstStyle/>
          <a:p>
            <a:pPr marL="0" indent="0" algn="ctr">
              <a:lnSpc>
                <a:spcPts val="3500"/>
              </a:lnSpc>
              <a:buNone/>
            </a:pPr>
            <a:r>
              <a:rPr lang="en-US" sz="3500" dirty="0">
                <a:solidFill>
                  <a:srgbClr val="DCD7E5"/>
                </a:solidFill>
                <a:latin typeface="Montserrat" pitchFamily="34" charset="0"/>
                <a:ea typeface="Montserrat" pitchFamily="34" charset="-122"/>
                <a:cs typeface="Montserrat" pitchFamily="34" charset="-120"/>
              </a:rPr>
              <a:t>Rp 150.000</a:t>
            </a:r>
            <a:endParaRPr lang="en-US" sz="3500" dirty="0"/>
          </a:p>
        </p:txBody>
      </p:sp>
      <p:sp>
        <p:nvSpPr>
          <p:cNvPr id="5" name="Text 2"/>
          <p:cNvSpPr/>
          <p:nvPr/>
        </p:nvSpPr>
        <p:spPr>
          <a:xfrm>
            <a:off x="9205436" y="1696641"/>
            <a:ext cx="1705808" cy="213241"/>
          </a:xfrm>
          <a:prstGeom prst="rect">
            <a:avLst/>
          </a:prstGeom>
          <a:noFill/>
          <a:ln/>
        </p:spPr>
        <p:txBody>
          <a:bodyPr wrap="none" lIns="0" tIns="0" rIns="0" bIns="0" rtlCol="0" anchor="t"/>
          <a:lstStyle/>
          <a:p>
            <a:pPr marL="0" indent="0" algn="ctr">
              <a:lnSpc>
                <a:spcPts val="1650"/>
              </a:lnSpc>
              <a:buNone/>
            </a:pPr>
            <a:r>
              <a:rPr lang="en-US" sz="1300" dirty="0">
                <a:solidFill>
                  <a:srgbClr val="DCD7E5"/>
                </a:solidFill>
                <a:latin typeface="Montserrat" pitchFamily="34" charset="0"/>
                <a:ea typeface="Montserrat" pitchFamily="34" charset="-122"/>
                <a:cs typeface="Montserrat" pitchFamily="34" charset="-120"/>
              </a:rPr>
              <a:t>NodeMCU ESP8266</a:t>
            </a:r>
            <a:endParaRPr lang="en-US" sz="1300" dirty="0"/>
          </a:p>
        </p:txBody>
      </p:sp>
      <p:sp>
        <p:nvSpPr>
          <p:cNvPr id="6" name="Text 3"/>
          <p:cNvSpPr/>
          <p:nvPr/>
        </p:nvSpPr>
        <p:spPr>
          <a:xfrm>
            <a:off x="5963960" y="1991678"/>
            <a:ext cx="8188881" cy="218242"/>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Mikrokontroler dengan WiFi terintegrasi</a:t>
            </a:r>
            <a:endParaRPr lang="en-US" sz="1050" dirty="0"/>
          </a:p>
        </p:txBody>
      </p:sp>
      <p:sp>
        <p:nvSpPr>
          <p:cNvPr id="7" name="Text 4"/>
          <p:cNvSpPr/>
          <p:nvPr/>
        </p:nvSpPr>
        <p:spPr>
          <a:xfrm>
            <a:off x="5963960" y="2687479"/>
            <a:ext cx="8188881" cy="450294"/>
          </a:xfrm>
          <a:prstGeom prst="rect">
            <a:avLst/>
          </a:prstGeom>
          <a:noFill/>
          <a:ln/>
        </p:spPr>
        <p:txBody>
          <a:bodyPr wrap="none" lIns="0" tIns="0" rIns="0" bIns="0" rtlCol="0" anchor="t"/>
          <a:lstStyle/>
          <a:p>
            <a:pPr marL="0" indent="0" algn="ctr">
              <a:lnSpc>
                <a:spcPts val="3500"/>
              </a:lnSpc>
              <a:buNone/>
            </a:pPr>
            <a:r>
              <a:rPr lang="en-US" sz="3500" dirty="0">
                <a:solidFill>
                  <a:srgbClr val="DCD7E5"/>
                </a:solidFill>
                <a:latin typeface="Montserrat" pitchFamily="34" charset="0"/>
                <a:ea typeface="Montserrat" pitchFamily="34" charset="-122"/>
                <a:cs typeface="Montserrat" pitchFamily="34" charset="-120"/>
              </a:rPr>
              <a:t>Rp 100.000</a:t>
            </a:r>
            <a:endParaRPr lang="en-US" sz="3500" dirty="0"/>
          </a:p>
        </p:txBody>
      </p:sp>
      <p:sp>
        <p:nvSpPr>
          <p:cNvPr id="8" name="Text 5"/>
          <p:cNvSpPr/>
          <p:nvPr/>
        </p:nvSpPr>
        <p:spPr>
          <a:xfrm>
            <a:off x="9205436" y="3308271"/>
            <a:ext cx="1705808" cy="213241"/>
          </a:xfrm>
          <a:prstGeom prst="rect">
            <a:avLst/>
          </a:prstGeom>
          <a:noFill/>
          <a:ln/>
        </p:spPr>
        <p:txBody>
          <a:bodyPr wrap="none" lIns="0" tIns="0" rIns="0" bIns="0" rtlCol="0" anchor="t"/>
          <a:lstStyle/>
          <a:p>
            <a:pPr marL="0" indent="0" algn="ctr">
              <a:lnSpc>
                <a:spcPts val="1650"/>
              </a:lnSpc>
              <a:buNone/>
            </a:pPr>
            <a:r>
              <a:rPr lang="en-US" sz="1300" dirty="0">
                <a:solidFill>
                  <a:srgbClr val="DCD7E5"/>
                </a:solidFill>
                <a:latin typeface="Montserrat" pitchFamily="34" charset="0"/>
                <a:ea typeface="Montserrat" pitchFamily="34" charset="-122"/>
                <a:cs typeface="Montserrat" pitchFamily="34" charset="-120"/>
              </a:rPr>
              <a:t>RFID Reader RC522</a:t>
            </a:r>
            <a:endParaRPr lang="en-US" sz="1300" dirty="0"/>
          </a:p>
        </p:txBody>
      </p:sp>
      <p:sp>
        <p:nvSpPr>
          <p:cNvPr id="9" name="Text 6"/>
          <p:cNvSpPr/>
          <p:nvPr/>
        </p:nvSpPr>
        <p:spPr>
          <a:xfrm>
            <a:off x="5963960" y="3603308"/>
            <a:ext cx="8188881" cy="218242"/>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Pembaca kartu RFID</a:t>
            </a:r>
            <a:endParaRPr lang="en-US" sz="1050" dirty="0"/>
          </a:p>
        </p:txBody>
      </p:sp>
      <p:sp>
        <p:nvSpPr>
          <p:cNvPr id="10" name="Text 7"/>
          <p:cNvSpPr/>
          <p:nvPr/>
        </p:nvSpPr>
        <p:spPr>
          <a:xfrm>
            <a:off x="5963960" y="4299109"/>
            <a:ext cx="8188881" cy="450294"/>
          </a:xfrm>
          <a:prstGeom prst="rect">
            <a:avLst/>
          </a:prstGeom>
          <a:noFill/>
          <a:ln/>
        </p:spPr>
        <p:txBody>
          <a:bodyPr wrap="none" lIns="0" tIns="0" rIns="0" bIns="0" rtlCol="0" anchor="t"/>
          <a:lstStyle/>
          <a:p>
            <a:pPr marL="0" indent="0" algn="ctr">
              <a:lnSpc>
                <a:spcPts val="3500"/>
              </a:lnSpc>
              <a:buNone/>
            </a:pPr>
            <a:r>
              <a:rPr lang="en-US" sz="3500" dirty="0">
                <a:solidFill>
                  <a:srgbClr val="DCD7E5"/>
                </a:solidFill>
                <a:latin typeface="Montserrat" pitchFamily="34" charset="0"/>
                <a:ea typeface="Montserrat" pitchFamily="34" charset="-122"/>
                <a:cs typeface="Montserrat" pitchFamily="34" charset="-120"/>
              </a:rPr>
              <a:t>Rp 50.000</a:t>
            </a:r>
            <a:endParaRPr lang="en-US" sz="3500" dirty="0"/>
          </a:p>
        </p:txBody>
      </p:sp>
      <p:sp>
        <p:nvSpPr>
          <p:cNvPr id="11" name="Text 8"/>
          <p:cNvSpPr/>
          <p:nvPr/>
        </p:nvSpPr>
        <p:spPr>
          <a:xfrm>
            <a:off x="9205436" y="4919901"/>
            <a:ext cx="1705808" cy="213241"/>
          </a:xfrm>
          <a:prstGeom prst="rect">
            <a:avLst/>
          </a:prstGeom>
          <a:noFill/>
          <a:ln/>
        </p:spPr>
        <p:txBody>
          <a:bodyPr wrap="none" lIns="0" tIns="0" rIns="0" bIns="0" rtlCol="0" anchor="t"/>
          <a:lstStyle/>
          <a:p>
            <a:pPr marL="0" indent="0" algn="ctr">
              <a:lnSpc>
                <a:spcPts val="1650"/>
              </a:lnSpc>
              <a:buNone/>
            </a:pPr>
            <a:r>
              <a:rPr lang="en-US" sz="1300" dirty="0">
                <a:solidFill>
                  <a:srgbClr val="DCD7E5"/>
                </a:solidFill>
                <a:latin typeface="Montserrat" pitchFamily="34" charset="0"/>
                <a:ea typeface="Montserrat" pitchFamily="34" charset="-122"/>
                <a:cs typeface="Montserrat" pitchFamily="34" charset="-120"/>
              </a:rPr>
              <a:t>RFID Tags (20 pcs)</a:t>
            </a:r>
            <a:endParaRPr lang="en-US" sz="1300" dirty="0"/>
          </a:p>
        </p:txBody>
      </p:sp>
      <p:sp>
        <p:nvSpPr>
          <p:cNvPr id="12" name="Text 9"/>
          <p:cNvSpPr/>
          <p:nvPr/>
        </p:nvSpPr>
        <p:spPr>
          <a:xfrm>
            <a:off x="5963960" y="5214938"/>
            <a:ext cx="8188881" cy="218242"/>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Kartu identifikasi siswa</a:t>
            </a:r>
            <a:endParaRPr lang="en-US" sz="1050" dirty="0"/>
          </a:p>
        </p:txBody>
      </p:sp>
      <p:sp>
        <p:nvSpPr>
          <p:cNvPr id="13" name="Text 10"/>
          <p:cNvSpPr/>
          <p:nvPr/>
        </p:nvSpPr>
        <p:spPr>
          <a:xfrm>
            <a:off x="5963960" y="5910739"/>
            <a:ext cx="8188881" cy="450294"/>
          </a:xfrm>
          <a:prstGeom prst="rect">
            <a:avLst/>
          </a:prstGeom>
          <a:noFill/>
          <a:ln/>
        </p:spPr>
        <p:txBody>
          <a:bodyPr wrap="none" lIns="0" tIns="0" rIns="0" bIns="0" rtlCol="0" anchor="t"/>
          <a:lstStyle/>
          <a:p>
            <a:pPr marL="0" indent="0" algn="ctr">
              <a:lnSpc>
                <a:spcPts val="3500"/>
              </a:lnSpc>
              <a:buNone/>
            </a:pPr>
            <a:r>
              <a:rPr lang="en-US" sz="3500" dirty="0">
                <a:solidFill>
                  <a:srgbClr val="DCD7E5"/>
                </a:solidFill>
                <a:latin typeface="Montserrat" pitchFamily="34" charset="0"/>
                <a:ea typeface="Montserrat" pitchFamily="34" charset="-122"/>
                <a:cs typeface="Montserrat" pitchFamily="34" charset="-120"/>
              </a:rPr>
              <a:t>Rp 2.000.000</a:t>
            </a:r>
            <a:endParaRPr lang="en-US" sz="3500" dirty="0"/>
          </a:p>
        </p:txBody>
      </p:sp>
      <p:sp>
        <p:nvSpPr>
          <p:cNvPr id="14" name="Text 11"/>
          <p:cNvSpPr/>
          <p:nvPr/>
        </p:nvSpPr>
        <p:spPr>
          <a:xfrm>
            <a:off x="8958024" y="6531531"/>
            <a:ext cx="2200632" cy="213241"/>
          </a:xfrm>
          <a:prstGeom prst="rect">
            <a:avLst/>
          </a:prstGeom>
          <a:noFill/>
          <a:ln/>
        </p:spPr>
        <p:txBody>
          <a:bodyPr wrap="none" lIns="0" tIns="0" rIns="0" bIns="0" rtlCol="0" anchor="t"/>
          <a:lstStyle/>
          <a:p>
            <a:pPr marL="0" indent="0" algn="ctr">
              <a:lnSpc>
                <a:spcPts val="1650"/>
              </a:lnSpc>
              <a:buNone/>
            </a:pPr>
            <a:r>
              <a:rPr lang="en-US" sz="1300" dirty="0">
                <a:solidFill>
                  <a:srgbClr val="DCD7E5"/>
                </a:solidFill>
                <a:latin typeface="Montserrat" pitchFamily="34" charset="0"/>
                <a:ea typeface="Montserrat" pitchFamily="34" charset="-122"/>
                <a:cs typeface="Montserrat" pitchFamily="34" charset="-120"/>
              </a:rPr>
              <a:t>Pengembangan Software</a:t>
            </a:r>
            <a:endParaRPr lang="en-US" sz="1300" dirty="0"/>
          </a:p>
        </p:txBody>
      </p:sp>
      <p:sp>
        <p:nvSpPr>
          <p:cNvPr id="15" name="Text 12"/>
          <p:cNvSpPr/>
          <p:nvPr/>
        </p:nvSpPr>
        <p:spPr>
          <a:xfrm>
            <a:off x="5963960" y="6826568"/>
            <a:ext cx="8188881" cy="218242"/>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Pemrograman dan integrasi sistem</a:t>
            </a:r>
            <a:endParaRPr lang="en-US" sz="1050" dirty="0"/>
          </a:p>
        </p:txBody>
      </p:sp>
      <p:sp>
        <p:nvSpPr>
          <p:cNvPr id="16" name="Text 13"/>
          <p:cNvSpPr/>
          <p:nvPr/>
        </p:nvSpPr>
        <p:spPr>
          <a:xfrm>
            <a:off x="5963960" y="7198281"/>
            <a:ext cx="8188881" cy="654725"/>
          </a:xfrm>
          <a:prstGeom prst="rect">
            <a:avLst/>
          </a:prstGeom>
          <a:noFill/>
          <a:ln/>
        </p:spPr>
        <p:txBody>
          <a:bodyPr wrap="square" lIns="0" tIns="0" rIns="0" bIns="0" rtlCol="0" anchor="t"/>
          <a:lstStyle/>
          <a:p>
            <a:pPr marL="0" indent="0" algn="l">
              <a:lnSpc>
                <a:spcPts val="1700"/>
              </a:lnSpc>
              <a:buNone/>
            </a:pPr>
            <a:r>
              <a:rPr lang="en-US" sz="1050" dirty="0">
                <a:solidFill>
                  <a:srgbClr val="DCD7E5"/>
                </a:solidFill>
                <a:latin typeface="Heebo Light" pitchFamily="34" charset="0"/>
                <a:ea typeface="Heebo Light" pitchFamily="34" charset="-122"/>
                <a:cs typeface="Heebo Light" pitchFamily="34" charset="-120"/>
              </a:rPr>
              <a:t>Total biaya proyek diperkirakan mencapai Rp 2.300.000 yang mencakup semua komponen hardware dan pengembangan software. Investasi ini akan memberikan penghematan jangka panjang dibandingkan dengan sistem manual yang membutuhkan buku absensi dan tenaga administratif.</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17458" y="486966"/>
            <a:ext cx="4587002" cy="551378"/>
          </a:xfrm>
          <a:prstGeom prst="rect">
            <a:avLst/>
          </a:prstGeom>
          <a:noFill/>
          <a:ln/>
        </p:spPr>
        <p:txBody>
          <a:bodyPr wrap="none" lIns="0" tIns="0" rIns="0" bIns="0" rtlCol="0" anchor="t"/>
          <a:lstStyle/>
          <a:p>
            <a:pPr marL="0" indent="0" algn="l">
              <a:lnSpc>
                <a:spcPts val="4300"/>
              </a:lnSpc>
              <a:buNone/>
            </a:pPr>
            <a:r>
              <a:rPr lang="en-US" sz="3450" dirty="0">
                <a:solidFill>
                  <a:srgbClr val="F2F0F4"/>
                </a:solidFill>
                <a:latin typeface="Montserrat" pitchFamily="34" charset="0"/>
                <a:ea typeface="Montserrat" pitchFamily="34" charset="-122"/>
                <a:cs typeface="Montserrat" pitchFamily="34" charset="-120"/>
              </a:rPr>
              <a:t>Perancangan Sistem</a:t>
            </a:r>
            <a:endParaRPr lang="en-US" sz="3450" dirty="0"/>
          </a:p>
        </p:txBody>
      </p:sp>
      <p:pic>
        <p:nvPicPr>
          <p:cNvPr id="3" name="Image 0" descr="preencoded.png"/>
          <p:cNvPicPr>
            <a:picLocks noChangeAspect="1"/>
          </p:cNvPicPr>
          <p:nvPr/>
        </p:nvPicPr>
        <p:blipFill>
          <a:blip r:embed="rId3"/>
          <a:stretch>
            <a:fillRect/>
          </a:stretch>
        </p:blipFill>
        <p:spPr>
          <a:xfrm>
            <a:off x="617458" y="1391126"/>
            <a:ext cx="882134" cy="1058585"/>
          </a:xfrm>
          <a:prstGeom prst="rect">
            <a:avLst/>
          </a:prstGeom>
        </p:spPr>
      </p:pic>
      <p:sp>
        <p:nvSpPr>
          <p:cNvPr id="4" name="Text 1"/>
          <p:cNvSpPr/>
          <p:nvPr/>
        </p:nvSpPr>
        <p:spPr>
          <a:xfrm>
            <a:off x="1764149" y="1567458"/>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Kartu RFID</a:t>
            </a:r>
            <a:endParaRPr lang="en-US" sz="1700" dirty="0"/>
          </a:p>
        </p:txBody>
      </p:sp>
      <p:sp>
        <p:nvSpPr>
          <p:cNvPr id="5" name="Text 2"/>
          <p:cNvSpPr/>
          <p:nvPr/>
        </p:nvSpPr>
        <p:spPr>
          <a:xfrm>
            <a:off x="1764149" y="1948934"/>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Dibawa oleh siswa</a:t>
            </a:r>
            <a:endParaRPr lang="en-US" sz="1350" dirty="0"/>
          </a:p>
        </p:txBody>
      </p:sp>
      <p:pic>
        <p:nvPicPr>
          <p:cNvPr id="6" name="Image 1" descr="preencoded.png"/>
          <p:cNvPicPr>
            <a:picLocks noChangeAspect="1"/>
          </p:cNvPicPr>
          <p:nvPr/>
        </p:nvPicPr>
        <p:blipFill>
          <a:blip r:embed="rId4"/>
          <a:stretch>
            <a:fillRect/>
          </a:stretch>
        </p:blipFill>
        <p:spPr>
          <a:xfrm>
            <a:off x="617458" y="2449711"/>
            <a:ext cx="882134" cy="1058585"/>
          </a:xfrm>
          <a:prstGeom prst="rect">
            <a:avLst/>
          </a:prstGeom>
        </p:spPr>
      </p:pic>
      <p:sp>
        <p:nvSpPr>
          <p:cNvPr id="7" name="Text 3"/>
          <p:cNvSpPr/>
          <p:nvPr/>
        </p:nvSpPr>
        <p:spPr>
          <a:xfrm>
            <a:off x="1764149" y="2626043"/>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RFID Reader</a:t>
            </a:r>
            <a:endParaRPr lang="en-US" sz="1700" dirty="0"/>
          </a:p>
        </p:txBody>
      </p:sp>
      <p:sp>
        <p:nvSpPr>
          <p:cNvPr id="8" name="Text 4"/>
          <p:cNvSpPr/>
          <p:nvPr/>
        </p:nvSpPr>
        <p:spPr>
          <a:xfrm>
            <a:off x="1764149" y="3007519"/>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Membaca data kartu</a:t>
            </a:r>
            <a:endParaRPr lang="en-US" sz="1350" dirty="0"/>
          </a:p>
        </p:txBody>
      </p:sp>
      <p:pic>
        <p:nvPicPr>
          <p:cNvPr id="9" name="Image 2" descr="preencoded.png"/>
          <p:cNvPicPr>
            <a:picLocks noChangeAspect="1"/>
          </p:cNvPicPr>
          <p:nvPr/>
        </p:nvPicPr>
        <p:blipFill>
          <a:blip r:embed="rId5"/>
          <a:stretch>
            <a:fillRect/>
          </a:stretch>
        </p:blipFill>
        <p:spPr>
          <a:xfrm>
            <a:off x="617458" y="3508296"/>
            <a:ext cx="882134" cy="1058585"/>
          </a:xfrm>
          <a:prstGeom prst="rect">
            <a:avLst/>
          </a:prstGeom>
        </p:spPr>
      </p:pic>
      <p:sp>
        <p:nvSpPr>
          <p:cNvPr id="10" name="Text 5"/>
          <p:cNvSpPr/>
          <p:nvPr/>
        </p:nvSpPr>
        <p:spPr>
          <a:xfrm>
            <a:off x="1764149" y="3684627"/>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NodeMCU</a:t>
            </a:r>
            <a:endParaRPr lang="en-US" sz="1700" dirty="0"/>
          </a:p>
        </p:txBody>
      </p:sp>
      <p:sp>
        <p:nvSpPr>
          <p:cNvPr id="11" name="Text 6"/>
          <p:cNvSpPr/>
          <p:nvPr/>
        </p:nvSpPr>
        <p:spPr>
          <a:xfrm>
            <a:off x="1764149" y="406610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Memproses data</a:t>
            </a:r>
            <a:endParaRPr lang="en-US" sz="1350" dirty="0"/>
          </a:p>
        </p:txBody>
      </p:sp>
      <p:pic>
        <p:nvPicPr>
          <p:cNvPr id="12" name="Image 3" descr="preencoded.png"/>
          <p:cNvPicPr>
            <a:picLocks noChangeAspect="1"/>
          </p:cNvPicPr>
          <p:nvPr/>
        </p:nvPicPr>
        <p:blipFill>
          <a:blip r:embed="rId6"/>
          <a:stretch>
            <a:fillRect/>
          </a:stretch>
        </p:blipFill>
        <p:spPr>
          <a:xfrm>
            <a:off x="617458" y="4566880"/>
            <a:ext cx="882134" cy="1058585"/>
          </a:xfrm>
          <a:prstGeom prst="rect">
            <a:avLst/>
          </a:prstGeom>
        </p:spPr>
      </p:pic>
      <p:sp>
        <p:nvSpPr>
          <p:cNvPr id="13" name="Text 7"/>
          <p:cNvSpPr/>
          <p:nvPr/>
        </p:nvSpPr>
        <p:spPr>
          <a:xfrm>
            <a:off x="1764149" y="4743212"/>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WiFi</a:t>
            </a:r>
            <a:endParaRPr lang="en-US" sz="1700" dirty="0"/>
          </a:p>
        </p:txBody>
      </p:sp>
      <p:sp>
        <p:nvSpPr>
          <p:cNvPr id="14" name="Text 8"/>
          <p:cNvSpPr/>
          <p:nvPr/>
        </p:nvSpPr>
        <p:spPr>
          <a:xfrm>
            <a:off x="1764149" y="512468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Mengirim ke cloud</a:t>
            </a:r>
            <a:endParaRPr lang="en-US" sz="1350" dirty="0"/>
          </a:p>
        </p:txBody>
      </p:sp>
      <p:pic>
        <p:nvPicPr>
          <p:cNvPr id="15" name="Image 4" descr="preencoded.png"/>
          <p:cNvPicPr>
            <a:picLocks noChangeAspect="1"/>
          </p:cNvPicPr>
          <p:nvPr/>
        </p:nvPicPr>
        <p:blipFill>
          <a:blip r:embed="rId7"/>
          <a:stretch>
            <a:fillRect/>
          </a:stretch>
        </p:blipFill>
        <p:spPr>
          <a:xfrm>
            <a:off x="617458" y="5625465"/>
            <a:ext cx="882134" cy="1058585"/>
          </a:xfrm>
          <a:prstGeom prst="rect">
            <a:avLst/>
          </a:prstGeom>
        </p:spPr>
      </p:pic>
      <p:sp>
        <p:nvSpPr>
          <p:cNvPr id="16" name="Text 9"/>
          <p:cNvSpPr/>
          <p:nvPr/>
        </p:nvSpPr>
        <p:spPr>
          <a:xfrm>
            <a:off x="1764149" y="5801797"/>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Cloud Database</a:t>
            </a:r>
            <a:endParaRPr lang="en-US" sz="1700" dirty="0"/>
          </a:p>
        </p:txBody>
      </p:sp>
      <p:sp>
        <p:nvSpPr>
          <p:cNvPr id="17" name="Text 10"/>
          <p:cNvSpPr/>
          <p:nvPr/>
        </p:nvSpPr>
        <p:spPr>
          <a:xfrm>
            <a:off x="1764149" y="618327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Menyimpan data</a:t>
            </a:r>
            <a:endParaRPr lang="en-US" sz="1350" dirty="0"/>
          </a:p>
        </p:txBody>
      </p:sp>
      <p:pic>
        <p:nvPicPr>
          <p:cNvPr id="18" name="Image 5" descr="preencoded.png"/>
          <p:cNvPicPr>
            <a:picLocks noChangeAspect="1"/>
          </p:cNvPicPr>
          <p:nvPr/>
        </p:nvPicPr>
        <p:blipFill>
          <a:blip r:embed="rId8"/>
          <a:stretch>
            <a:fillRect/>
          </a:stretch>
        </p:blipFill>
        <p:spPr>
          <a:xfrm>
            <a:off x="617458" y="6684050"/>
            <a:ext cx="882134" cy="1058585"/>
          </a:xfrm>
          <a:prstGeom prst="rect">
            <a:avLst/>
          </a:prstGeom>
        </p:spPr>
      </p:pic>
      <p:sp>
        <p:nvSpPr>
          <p:cNvPr id="19" name="Text 11"/>
          <p:cNvSpPr/>
          <p:nvPr/>
        </p:nvSpPr>
        <p:spPr>
          <a:xfrm>
            <a:off x="1764149" y="6860381"/>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DCD7E5"/>
                </a:solidFill>
                <a:latin typeface="Montserrat" pitchFamily="34" charset="0"/>
                <a:ea typeface="Montserrat" pitchFamily="34" charset="-122"/>
                <a:cs typeface="Montserrat" pitchFamily="34" charset="-120"/>
              </a:rPr>
              <a:t>Notifikasi</a:t>
            </a:r>
            <a:endParaRPr lang="en-US" sz="1700" dirty="0"/>
          </a:p>
        </p:txBody>
      </p:sp>
      <p:sp>
        <p:nvSpPr>
          <p:cNvPr id="20" name="Text 12"/>
          <p:cNvSpPr/>
          <p:nvPr/>
        </p:nvSpPr>
        <p:spPr>
          <a:xfrm>
            <a:off x="1764149" y="724185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DCD7E5"/>
                </a:solidFill>
                <a:latin typeface="Heebo Light" pitchFamily="34" charset="0"/>
                <a:ea typeface="Heebo Light" pitchFamily="34" charset="-122"/>
                <a:cs typeface="Heebo Light" pitchFamily="34" charset="-120"/>
              </a:rPr>
              <a:t>Ke orang tua/guru</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4018" y="723305"/>
            <a:ext cx="5100876" cy="637580"/>
          </a:xfrm>
          <a:prstGeom prst="rect">
            <a:avLst/>
          </a:prstGeom>
          <a:noFill/>
          <a:ln/>
        </p:spPr>
        <p:txBody>
          <a:bodyPr wrap="none" lIns="0" tIns="0" rIns="0" bIns="0" rtlCol="0" anchor="t"/>
          <a:lstStyle/>
          <a:p>
            <a:pPr marL="0" indent="0" algn="l">
              <a:lnSpc>
                <a:spcPts val="5000"/>
              </a:lnSpc>
              <a:buNone/>
            </a:pPr>
            <a:r>
              <a:rPr lang="en-US" sz="4000" dirty="0">
                <a:solidFill>
                  <a:srgbClr val="F2F0F4"/>
                </a:solidFill>
                <a:latin typeface="Montserrat" pitchFamily="34" charset="0"/>
                <a:ea typeface="Montserrat" pitchFamily="34" charset="-122"/>
                <a:cs typeface="Montserrat" pitchFamily="34" charset="-120"/>
              </a:rPr>
              <a:t>Arsitektur IoT</a:t>
            </a:r>
            <a:endParaRPr lang="en-US" sz="4000" dirty="0"/>
          </a:p>
        </p:txBody>
      </p:sp>
      <p:pic>
        <p:nvPicPr>
          <p:cNvPr id="3" name="Image 0" descr="preencoded.png"/>
          <p:cNvPicPr>
            <a:picLocks noChangeAspect="1"/>
          </p:cNvPicPr>
          <p:nvPr/>
        </p:nvPicPr>
        <p:blipFill>
          <a:blip r:embed="rId3"/>
          <a:stretch>
            <a:fillRect/>
          </a:stretch>
        </p:blipFill>
        <p:spPr>
          <a:xfrm>
            <a:off x="3197662" y="1768912"/>
            <a:ext cx="1633776" cy="1175504"/>
          </a:xfrm>
          <a:prstGeom prst="rect">
            <a:avLst/>
          </a:prstGeom>
        </p:spPr>
      </p:pic>
      <p:pic>
        <p:nvPicPr>
          <p:cNvPr id="4" name="Image 1" descr="preencoded.png"/>
          <p:cNvPicPr>
            <a:picLocks noChangeAspect="1"/>
          </p:cNvPicPr>
          <p:nvPr/>
        </p:nvPicPr>
        <p:blipFill>
          <a:blip r:embed="rId4"/>
          <a:stretch>
            <a:fillRect/>
          </a:stretch>
        </p:blipFill>
        <p:spPr>
          <a:xfrm>
            <a:off x="3871079" y="2323028"/>
            <a:ext cx="286822" cy="358616"/>
          </a:xfrm>
          <a:prstGeom prst="rect">
            <a:avLst/>
          </a:prstGeom>
        </p:spPr>
      </p:pic>
      <p:sp>
        <p:nvSpPr>
          <p:cNvPr id="5" name="Text 1"/>
          <p:cNvSpPr/>
          <p:nvPr/>
        </p:nvSpPr>
        <p:spPr>
          <a:xfrm>
            <a:off x="5035391" y="1972866"/>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Layer Aplikasi</a:t>
            </a:r>
            <a:endParaRPr lang="en-US" sz="2000" dirty="0"/>
          </a:p>
        </p:txBody>
      </p:sp>
      <p:sp>
        <p:nvSpPr>
          <p:cNvPr id="6" name="Text 2"/>
          <p:cNvSpPr/>
          <p:nvPr/>
        </p:nvSpPr>
        <p:spPr>
          <a:xfrm>
            <a:off x="5035391" y="2413992"/>
            <a:ext cx="3672483"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Dashboard web/mobile untuk monitoring</a:t>
            </a:r>
            <a:endParaRPr lang="en-US" sz="1600" dirty="0"/>
          </a:p>
        </p:txBody>
      </p:sp>
      <p:sp>
        <p:nvSpPr>
          <p:cNvPr id="7" name="Shape 3"/>
          <p:cNvSpPr/>
          <p:nvPr/>
        </p:nvSpPr>
        <p:spPr>
          <a:xfrm>
            <a:off x="4882396" y="2960370"/>
            <a:ext cx="8983028" cy="11430"/>
          </a:xfrm>
          <a:prstGeom prst="roundRect">
            <a:avLst>
              <a:gd name="adj" fmla="val 749738"/>
            </a:avLst>
          </a:prstGeom>
          <a:solidFill>
            <a:srgbClr val="4A2C85"/>
          </a:solidFill>
          <a:ln/>
        </p:spPr>
      </p:sp>
      <p:pic>
        <p:nvPicPr>
          <p:cNvPr id="8" name="Image 2" descr="preencoded.png"/>
          <p:cNvPicPr>
            <a:picLocks noChangeAspect="1"/>
          </p:cNvPicPr>
          <p:nvPr/>
        </p:nvPicPr>
        <p:blipFill>
          <a:blip r:embed="rId5"/>
          <a:stretch>
            <a:fillRect/>
          </a:stretch>
        </p:blipFill>
        <p:spPr>
          <a:xfrm>
            <a:off x="2380774" y="2995374"/>
            <a:ext cx="3267551" cy="1175504"/>
          </a:xfrm>
          <a:prstGeom prst="rect">
            <a:avLst/>
          </a:prstGeom>
        </p:spPr>
      </p:pic>
      <p:pic>
        <p:nvPicPr>
          <p:cNvPr id="9" name="Image 3" descr="preencoded.png"/>
          <p:cNvPicPr>
            <a:picLocks noChangeAspect="1"/>
          </p:cNvPicPr>
          <p:nvPr/>
        </p:nvPicPr>
        <p:blipFill>
          <a:blip r:embed="rId6"/>
          <a:stretch>
            <a:fillRect/>
          </a:stretch>
        </p:blipFill>
        <p:spPr>
          <a:xfrm>
            <a:off x="3871079" y="3403759"/>
            <a:ext cx="286822" cy="358616"/>
          </a:xfrm>
          <a:prstGeom prst="rect">
            <a:avLst/>
          </a:prstGeom>
        </p:spPr>
      </p:pic>
      <p:sp>
        <p:nvSpPr>
          <p:cNvPr id="10" name="Text 4"/>
          <p:cNvSpPr/>
          <p:nvPr/>
        </p:nvSpPr>
        <p:spPr>
          <a:xfrm>
            <a:off x="5852279" y="3199328"/>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Layer Cloud</a:t>
            </a:r>
            <a:endParaRPr lang="en-US" sz="2000" dirty="0"/>
          </a:p>
        </p:txBody>
      </p:sp>
      <p:sp>
        <p:nvSpPr>
          <p:cNvPr id="11" name="Text 5"/>
          <p:cNvSpPr/>
          <p:nvPr/>
        </p:nvSpPr>
        <p:spPr>
          <a:xfrm>
            <a:off x="5852279" y="3640455"/>
            <a:ext cx="3759875"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Firebase/MySQL untuk penyimpanan data</a:t>
            </a:r>
            <a:endParaRPr lang="en-US" sz="1600" dirty="0"/>
          </a:p>
        </p:txBody>
      </p:sp>
      <p:sp>
        <p:nvSpPr>
          <p:cNvPr id="12" name="Shape 6"/>
          <p:cNvSpPr/>
          <p:nvPr/>
        </p:nvSpPr>
        <p:spPr>
          <a:xfrm>
            <a:off x="5699284" y="4186833"/>
            <a:ext cx="8166140" cy="11430"/>
          </a:xfrm>
          <a:prstGeom prst="roundRect">
            <a:avLst>
              <a:gd name="adj" fmla="val 749738"/>
            </a:avLst>
          </a:prstGeom>
          <a:solidFill>
            <a:srgbClr val="4A2C85"/>
          </a:solidFill>
          <a:ln/>
        </p:spPr>
      </p:sp>
      <p:pic>
        <p:nvPicPr>
          <p:cNvPr id="13" name="Image 4" descr="preencoded.png"/>
          <p:cNvPicPr>
            <a:picLocks noChangeAspect="1"/>
          </p:cNvPicPr>
          <p:nvPr/>
        </p:nvPicPr>
        <p:blipFill>
          <a:blip r:embed="rId7"/>
          <a:stretch>
            <a:fillRect/>
          </a:stretch>
        </p:blipFill>
        <p:spPr>
          <a:xfrm>
            <a:off x="1563886" y="4221837"/>
            <a:ext cx="4901327" cy="1175504"/>
          </a:xfrm>
          <a:prstGeom prst="rect">
            <a:avLst/>
          </a:prstGeom>
        </p:spPr>
      </p:pic>
      <p:pic>
        <p:nvPicPr>
          <p:cNvPr id="14" name="Image 5" descr="preencoded.png"/>
          <p:cNvPicPr>
            <a:picLocks noChangeAspect="1"/>
          </p:cNvPicPr>
          <p:nvPr/>
        </p:nvPicPr>
        <p:blipFill>
          <a:blip r:embed="rId8"/>
          <a:stretch>
            <a:fillRect/>
          </a:stretch>
        </p:blipFill>
        <p:spPr>
          <a:xfrm>
            <a:off x="3871079" y="4630222"/>
            <a:ext cx="286822" cy="358616"/>
          </a:xfrm>
          <a:prstGeom prst="rect">
            <a:avLst/>
          </a:prstGeom>
        </p:spPr>
      </p:pic>
      <p:sp>
        <p:nvSpPr>
          <p:cNvPr id="15" name="Text 7"/>
          <p:cNvSpPr/>
          <p:nvPr/>
        </p:nvSpPr>
        <p:spPr>
          <a:xfrm>
            <a:off x="6669167" y="4425791"/>
            <a:ext cx="1919288" cy="318730"/>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Layer Jaringan</a:t>
            </a:r>
            <a:endParaRPr lang="en-US" sz="2000" dirty="0"/>
          </a:p>
        </p:txBody>
      </p:sp>
      <p:sp>
        <p:nvSpPr>
          <p:cNvPr id="16" name="Text 8"/>
          <p:cNvSpPr/>
          <p:nvPr/>
        </p:nvSpPr>
        <p:spPr>
          <a:xfrm>
            <a:off x="6669167" y="4866918"/>
            <a:ext cx="1919288"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Koneksi WiFi/internet</a:t>
            </a:r>
            <a:endParaRPr lang="en-US" sz="1600" dirty="0"/>
          </a:p>
        </p:txBody>
      </p:sp>
      <p:sp>
        <p:nvSpPr>
          <p:cNvPr id="17" name="Shape 9"/>
          <p:cNvSpPr/>
          <p:nvPr/>
        </p:nvSpPr>
        <p:spPr>
          <a:xfrm>
            <a:off x="6516172" y="5413296"/>
            <a:ext cx="7349252" cy="11430"/>
          </a:xfrm>
          <a:prstGeom prst="roundRect">
            <a:avLst>
              <a:gd name="adj" fmla="val 749738"/>
            </a:avLst>
          </a:prstGeom>
          <a:solidFill>
            <a:srgbClr val="4A2C85"/>
          </a:solidFill>
          <a:ln/>
        </p:spPr>
      </p:sp>
      <p:pic>
        <p:nvPicPr>
          <p:cNvPr id="18" name="Image 6" descr="preencoded.png"/>
          <p:cNvPicPr>
            <a:picLocks noChangeAspect="1"/>
          </p:cNvPicPr>
          <p:nvPr/>
        </p:nvPicPr>
        <p:blipFill>
          <a:blip r:embed="rId9"/>
          <a:stretch>
            <a:fillRect/>
          </a:stretch>
        </p:blipFill>
        <p:spPr>
          <a:xfrm>
            <a:off x="746998" y="5448300"/>
            <a:ext cx="6535103" cy="1175504"/>
          </a:xfrm>
          <a:prstGeom prst="rect">
            <a:avLst/>
          </a:prstGeom>
        </p:spPr>
      </p:pic>
      <p:pic>
        <p:nvPicPr>
          <p:cNvPr id="19" name="Image 7" descr="preencoded.png"/>
          <p:cNvPicPr>
            <a:picLocks noChangeAspect="1"/>
          </p:cNvPicPr>
          <p:nvPr/>
        </p:nvPicPr>
        <p:blipFill>
          <a:blip r:embed="rId10"/>
          <a:stretch>
            <a:fillRect/>
          </a:stretch>
        </p:blipFill>
        <p:spPr>
          <a:xfrm>
            <a:off x="3871079" y="5856684"/>
            <a:ext cx="286822" cy="358616"/>
          </a:xfrm>
          <a:prstGeom prst="rect">
            <a:avLst/>
          </a:prstGeom>
        </p:spPr>
      </p:pic>
      <p:sp>
        <p:nvSpPr>
          <p:cNvPr id="20" name="Text 10"/>
          <p:cNvSpPr/>
          <p:nvPr/>
        </p:nvSpPr>
        <p:spPr>
          <a:xfrm>
            <a:off x="7486055" y="5652254"/>
            <a:ext cx="2263497" cy="318730"/>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Layer Perangkat</a:t>
            </a:r>
            <a:endParaRPr lang="en-US" sz="2000" dirty="0"/>
          </a:p>
        </p:txBody>
      </p:sp>
      <p:sp>
        <p:nvSpPr>
          <p:cNvPr id="21" name="Text 11"/>
          <p:cNvSpPr/>
          <p:nvPr/>
        </p:nvSpPr>
        <p:spPr>
          <a:xfrm>
            <a:off x="7486055" y="6093381"/>
            <a:ext cx="2263497"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RFID Reader &amp; NodeMCU</a:t>
            </a:r>
            <a:endParaRPr lang="en-US" sz="1600" dirty="0"/>
          </a:p>
        </p:txBody>
      </p:sp>
      <p:sp>
        <p:nvSpPr>
          <p:cNvPr id="22" name="Text 12"/>
          <p:cNvSpPr/>
          <p:nvPr/>
        </p:nvSpPr>
        <p:spPr>
          <a:xfrm>
            <a:off x="714018" y="6853238"/>
            <a:ext cx="13202364" cy="652939"/>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Arsitektur IoT sistem absensi ini terdiri dari empat layer yang saling terintegrasi. Layer perangkat berinteraksi dengan pengguna melalui RFID. Data kemudian dikirim melalui layer jaringan ke cloud database. Akhirnya, layer aplikasi menyajikan informasi dalam bentuk dashboard dan notifikasi.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5922" y="1082040"/>
            <a:ext cx="7227213" cy="630436"/>
          </a:xfrm>
          <a:prstGeom prst="rect">
            <a:avLst/>
          </a:prstGeom>
          <a:noFill/>
          <a:ln/>
        </p:spPr>
        <p:txBody>
          <a:bodyPr wrap="none" lIns="0" tIns="0" rIns="0" bIns="0" rtlCol="0" anchor="t"/>
          <a:lstStyle/>
          <a:p>
            <a:pPr marL="0" indent="0" algn="l">
              <a:lnSpc>
                <a:spcPts val="4950"/>
              </a:lnSpc>
              <a:buNone/>
            </a:pPr>
            <a:r>
              <a:rPr lang="en-US" sz="3950" dirty="0">
                <a:solidFill>
                  <a:srgbClr val="F2F0F4"/>
                </a:solidFill>
                <a:latin typeface="Montserrat" pitchFamily="34" charset="0"/>
                <a:ea typeface="Montserrat" pitchFamily="34" charset="-122"/>
                <a:cs typeface="Montserrat" pitchFamily="34" charset="-120"/>
              </a:rPr>
              <a:t>Implementasi dan Alur Kerja</a:t>
            </a:r>
            <a:endParaRPr lang="en-US" sz="3950" dirty="0"/>
          </a:p>
        </p:txBody>
      </p:sp>
      <p:sp>
        <p:nvSpPr>
          <p:cNvPr id="4" name="Shape 1"/>
          <p:cNvSpPr/>
          <p:nvPr/>
        </p:nvSpPr>
        <p:spPr>
          <a:xfrm>
            <a:off x="705922" y="2015014"/>
            <a:ext cx="151209" cy="1081445"/>
          </a:xfrm>
          <a:prstGeom prst="roundRect">
            <a:avLst>
              <a:gd name="adj" fmla="val 56031"/>
            </a:avLst>
          </a:prstGeom>
          <a:solidFill>
            <a:srgbClr val="31136C"/>
          </a:solidFill>
          <a:ln w="7620">
            <a:solidFill>
              <a:srgbClr val="4A2C85"/>
            </a:solidFill>
            <a:prstDash val="solid"/>
          </a:ln>
        </p:spPr>
      </p:sp>
      <p:sp>
        <p:nvSpPr>
          <p:cNvPr id="5" name="Text 2"/>
          <p:cNvSpPr/>
          <p:nvPr/>
        </p:nvSpPr>
        <p:spPr>
          <a:xfrm>
            <a:off x="1159669" y="2015014"/>
            <a:ext cx="2521506" cy="315158"/>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Tap Kartu RFID</a:t>
            </a:r>
            <a:endParaRPr lang="en-US" sz="1950" dirty="0"/>
          </a:p>
        </p:txBody>
      </p:sp>
      <p:sp>
        <p:nvSpPr>
          <p:cNvPr id="6" name="Text 3"/>
          <p:cNvSpPr/>
          <p:nvPr/>
        </p:nvSpPr>
        <p:spPr>
          <a:xfrm>
            <a:off x="1159669" y="2451140"/>
            <a:ext cx="7278410" cy="6453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Siswa menempelkan kartu RFID ke reader yang terpasang di pintu masuk sekolah. Sistem membaca ID unik dari kartu tersebut.</a:t>
            </a:r>
            <a:endParaRPr lang="en-US" sz="1550" dirty="0"/>
          </a:p>
        </p:txBody>
      </p:sp>
      <p:sp>
        <p:nvSpPr>
          <p:cNvPr id="7" name="Shape 4"/>
          <p:cNvSpPr/>
          <p:nvPr/>
        </p:nvSpPr>
        <p:spPr>
          <a:xfrm>
            <a:off x="1008459" y="3298150"/>
            <a:ext cx="151209" cy="1081445"/>
          </a:xfrm>
          <a:prstGeom prst="roundRect">
            <a:avLst>
              <a:gd name="adj" fmla="val 56031"/>
            </a:avLst>
          </a:prstGeom>
          <a:solidFill>
            <a:srgbClr val="31136C"/>
          </a:solidFill>
          <a:ln w="7620">
            <a:solidFill>
              <a:srgbClr val="4A2C85"/>
            </a:solidFill>
            <a:prstDash val="solid"/>
          </a:ln>
        </p:spPr>
      </p:sp>
      <p:sp>
        <p:nvSpPr>
          <p:cNvPr id="8" name="Text 5"/>
          <p:cNvSpPr/>
          <p:nvPr/>
        </p:nvSpPr>
        <p:spPr>
          <a:xfrm>
            <a:off x="1462207" y="3298150"/>
            <a:ext cx="2521506" cy="315158"/>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Pengiriman Data</a:t>
            </a:r>
            <a:endParaRPr lang="en-US" sz="1950" dirty="0"/>
          </a:p>
        </p:txBody>
      </p:sp>
      <p:sp>
        <p:nvSpPr>
          <p:cNvPr id="9" name="Text 6"/>
          <p:cNvSpPr/>
          <p:nvPr/>
        </p:nvSpPr>
        <p:spPr>
          <a:xfrm>
            <a:off x="1462207" y="3734276"/>
            <a:ext cx="6975872" cy="6453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NodeMCU memproses data dan mengirimkannya ke Firebase melalui koneksi WiFi. Data disimpan dengan timestamp untuk mencatat waktu kehadiran.</a:t>
            </a:r>
            <a:endParaRPr lang="en-US" sz="1550" dirty="0"/>
          </a:p>
        </p:txBody>
      </p:sp>
      <p:sp>
        <p:nvSpPr>
          <p:cNvPr id="10" name="Shape 7"/>
          <p:cNvSpPr/>
          <p:nvPr/>
        </p:nvSpPr>
        <p:spPr>
          <a:xfrm>
            <a:off x="1310997" y="4581287"/>
            <a:ext cx="151209" cy="1081445"/>
          </a:xfrm>
          <a:prstGeom prst="roundRect">
            <a:avLst>
              <a:gd name="adj" fmla="val 56031"/>
            </a:avLst>
          </a:prstGeom>
          <a:solidFill>
            <a:srgbClr val="31136C"/>
          </a:solidFill>
          <a:ln w="7620">
            <a:solidFill>
              <a:srgbClr val="4A2C85"/>
            </a:solidFill>
            <a:prstDash val="solid"/>
          </a:ln>
        </p:spPr>
      </p:sp>
      <p:sp>
        <p:nvSpPr>
          <p:cNvPr id="11" name="Text 8"/>
          <p:cNvSpPr/>
          <p:nvPr/>
        </p:nvSpPr>
        <p:spPr>
          <a:xfrm>
            <a:off x="1764744" y="4581287"/>
            <a:ext cx="2559487" cy="315158"/>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Notifikasi Orang Tua</a:t>
            </a:r>
            <a:endParaRPr lang="en-US" sz="1950" dirty="0"/>
          </a:p>
        </p:txBody>
      </p:sp>
      <p:sp>
        <p:nvSpPr>
          <p:cNvPr id="12" name="Text 9"/>
          <p:cNvSpPr/>
          <p:nvPr/>
        </p:nvSpPr>
        <p:spPr>
          <a:xfrm>
            <a:off x="1764744" y="5017413"/>
            <a:ext cx="6673334" cy="6453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Sistem secara otomatis mengirim notifikasi ke orang tua melalui WhatsApp atau Email, memberitahukan bahwa anak telah tiba di sekolah.</a:t>
            </a:r>
            <a:endParaRPr lang="en-US" sz="1550" dirty="0"/>
          </a:p>
        </p:txBody>
      </p:sp>
      <p:sp>
        <p:nvSpPr>
          <p:cNvPr id="13" name="Shape 10"/>
          <p:cNvSpPr/>
          <p:nvPr/>
        </p:nvSpPr>
        <p:spPr>
          <a:xfrm>
            <a:off x="1613654" y="5864423"/>
            <a:ext cx="151209" cy="1081445"/>
          </a:xfrm>
          <a:prstGeom prst="roundRect">
            <a:avLst>
              <a:gd name="adj" fmla="val 56031"/>
            </a:avLst>
          </a:prstGeom>
          <a:solidFill>
            <a:srgbClr val="31136C"/>
          </a:solidFill>
          <a:ln w="7620">
            <a:solidFill>
              <a:srgbClr val="4A2C85"/>
            </a:solidFill>
            <a:prstDash val="solid"/>
          </a:ln>
        </p:spPr>
      </p:sp>
      <p:sp>
        <p:nvSpPr>
          <p:cNvPr id="14" name="Text 11"/>
          <p:cNvSpPr/>
          <p:nvPr/>
        </p:nvSpPr>
        <p:spPr>
          <a:xfrm>
            <a:off x="2067401" y="5864423"/>
            <a:ext cx="2521506" cy="315158"/>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Monitoring Admin</a:t>
            </a:r>
            <a:endParaRPr lang="en-US" sz="1950" dirty="0"/>
          </a:p>
        </p:txBody>
      </p:sp>
      <p:sp>
        <p:nvSpPr>
          <p:cNvPr id="15" name="Text 12"/>
          <p:cNvSpPr/>
          <p:nvPr/>
        </p:nvSpPr>
        <p:spPr>
          <a:xfrm>
            <a:off x="2067401" y="6300549"/>
            <a:ext cx="6370677" cy="6453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Admin sekolah dapat melihat rekap kehadiran siswa melalui dashboard web, mengunduh laporan, dan mengelola data siswa.</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85098" y="616863"/>
            <a:ext cx="12541448" cy="700921"/>
          </a:xfrm>
          <a:prstGeom prst="rect">
            <a:avLst/>
          </a:prstGeom>
          <a:noFill/>
          <a:ln/>
        </p:spPr>
        <p:txBody>
          <a:bodyPr wrap="none" lIns="0" tIns="0" rIns="0" bIns="0" rtlCol="0" anchor="t"/>
          <a:lstStyle/>
          <a:p>
            <a:pPr marL="0" indent="0" algn="l">
              <a:lnSpc>
                <a:spcPts val="5500"/>
              </a:lnSpc>
              <a:buNone/>
            </a:pPr>
            <a:r>
              <a:rPr lang="en-US" sz="4400" dirty="0">
                <a:solidFill>
                  <a:srgbClr val="F2F0F4"/>
                </a:solidFill>
                <a:latin typeface="Montserrat" pitchFamily="34" charset="0"/>
                <a:ea typeface="Montserrat" pitchFamily="34" charset="-122"/>
                <a:cs typeface="Montserrat" pitchFamily="34" charset="-120"/>
              </a:rPr>
              <a:t>Pengujian dan Pengembangan Masa Depan</a:t>
            </a:r>
            <a:endParaRPr lang="en-US" sz="4400" dirty="0"/>
          </a:p>
        </p:txBody>
      </p:sp>
      <p:sp>
        <p:nvSpPr>
          <p:cNvPr id="3" name="Text 1"/>
          <p:cNvSpPr/>
          <p:nvPr/>
        </p:nvSpPr>
        <p:spPr>
          <a:xfrm>
            <a:off x="1889046" y="2223730"/>
            <a:ext cx="2804160" cy="350401"/>
          </a:xfrm>
          <a:prstGeom prst="rect">
            <a:avLst/>
          </a:prstGeom>
          <a:noFill/>
          <a:ln/>
        </p:spPr>
        <p:txBody>
          <a:bodyPr wrap="none" lIns="0" tIns="0" rIns="0" bIns="0" rtlCol="0" anchor="t"/>
          <a:lstStyle/>
          <a:p>
            <a:pPr marL="0" indent="0" algn="r">
              <a:lnSpc>
                <a:spcPts val="2750"/>
              </a:lnSpc>
              <a:buNone/>
            </a:pPr>
            <a:r>
              <a:rPr lang="en-US" sz="2200" dirty="0">
                <a:solidFill>
                  <a:srgbClr val="DCD7E5"/>
                </a:solidFill>
                <a:latin typeface="Montserrat" pitchFamily="34" charset="0"/>
                <a:ea typeface="Montserrat" pitchFamily="34" charset="-122"/>
                <a:cs typeface="Montserrat" pitchFamily="34" charset="-120"/>
              </a:rPr>
              <a:t>Uji Fungsionalitas</a:t>
            </a:r>
            <a:endParaRPr lang="en-US" sz="2200" dirty="0"/>
          </a:p>
        </p:txBody>
      </p:sp>
      <p:sp>
        <p:nvSpPr>
          <p:cNvPr id="4" name="Text 2"/>
          <p:cNvSpPr/>
          <p:nvPr/>
        </p:nvSpPr>
        <p:spPr>
          <a:xfrm>
            <a:off x="785098" y="2708672"/>
            <a:ext cx="3908107" cy="717709"/>
          </a:xfrm>
          <a:prstGeom prst="rect">
            <a:avLst/>
          </a:prstGeom>
          <a:noFill/>
          <a:ln/>
        </p:spPr>
        <p:txBody>
          <a:bodyPr wrap="square" lIns="0" tIns="0" rIns="0" bIns="0" rtlCol="0" anchor="t"/>
          <a:lstStyle/>
          <a:p>
            <a:pPr marL="0" indent="0" algn="r">
              <a:lnSpc>
                <a:spcPts val="2800"/>
              </a:lnSpc>
              <a:buNone/>
            </a:pPr>
            <a:r>
              <a:rPr lang="en-US" sz="1750" dirty="0">
                <a:solidFill>
                  <a:srgbClr val="DCD7E5"/>
                </a:solidFill>
                <a:latin typeface="Heebo Light" pitchFamily="34" charset="0"/>
                <a:ea typeface="Heebo Light" pitchFamily="34" charset="-122"/>
                <a:cs typeface="Heebo Light" pitchFamily="34" charset="-120"/>
              </a:rPr>
              <a:t>Pastikan RFID terbaca dan data tersimpan dengan benar</a:t>
            </a:r>
            <a:endParaRPr lang="en-US" sz="1750" dirty="0"/>
          </a:p>
        </p:txBody>
      </p:sp>
      <p:pic>
        <p:nvPicPr>
          <p:cNvPr id="5" name="Image 0" descr="preencoded.png"/>
          <p:cNvPicPr>
            <a:picLocks noChangeAspect="1"/>
          </p:cNvPicPr>
          <p:nvPr/>
        </p:nvPicPr>
        <p:blipFill>
          <a:blip r:embed="rId3"/>
          <a:stretch>
            <a:fillRect/>
          </a:stretch>
        </p:blipFill>
        <p:spPr>
          <a:xfrm>
            <a:off x="5029676" y="1766411"/>
            <a:ext cx="4571048" cy="4571048"/>
          </a:xfrm>
          <a:prstGeom prst="rect">
            <a:avLst/>
          </a:prstGeom>
        </p:spPr>
      </p:pic>
      <p:pic>
        <p:nvPicPr>
          <p:cNvPr id="6" name="Image 1" descr="preencoded.png"/>
          <p:cNvPicPr>
            <a:picLocks noChangeAspect="1"/>
          </p:cNvPicPr>
          <p:nvPr/>
        </p:nvPicPr>
        <p:blipFill>
          <a:blip r:embed="rId4"/>
          <a:stretch>
            <a:fillRect/>
          </a:stretch>
        </p:blipFill>
        <p:spPr>
          <a:xfrm>
            <a:off x="6227326" y="2533174"/>
            <a:ext cx="335637" cy="419576"/>
          </a:xfrm>
          <a:prstGeom prst="rect">
            <a:avLst/>
          </a:prstGeom>
        </p:spPr>
      </p:pic>
      <p:sp>
        <p:nvSpPr>
          <p:cNvPr id="7" name="Text 3"/>
          <p:cNvSpPr/>
          <p:nvPr/>
        </p:nvSpPr>
        <p:spPr>
          <a:xfrm>
            <a:off x="9937194" y="2223730"/>
            <a:ext cx="2804160" cy="350401"/>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Uji Kecepatan</a:t>
            </a:r>
            <a:endParaRPr lang="en-US" sz="2200" dirty="0"/>
          </a:p>
        </p:txBody>
      </p:sp>
      <p:sp>
        <p:nvSpPr>
          <p:cNvPr id="8" name="Text 4"/>
          <p:cNvSpPr/>
          <p:nvPr/>
        </p:nvSpPr>
        <p:spPr>
          <a:xfrm>
            <a:off x="9937194" y="2708672"/>
            <a:ext cx="3908107" cy="717709"/>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Waktu respon dari tap ke notifikasi kurang dari 5 detik</a:t>
            </a:r>
            <a:endParaRPr lang="en-US" sz="1750" dirty="0"/>
          </a:p>
        </p:txBody>
      </p:sp>
      <p:pic>
        <p:nvPicPr>
          <p:cNvPr id="9" name="Image 2" descr="preencoded.png"/>
          <p:cNvPicPr>
            <a:picLocks noChangeAspect="1"/>
          </p:cNvPicPr>
          <p:nvPr/>
        </p:nvPicPr>
        <p:blipFill>
          <a:blip r:embed="rId5"/>
          <a:stretch>
            <a:fillRect/>
          </a:stretch>
        </p:blipFill>
        <p:spPr>
          <a:xfrm>
            <a:off x="5029676" y="1766411"/>
            <a:ext cx="4571048" cy="4571048"/>
          </a:xfrm>
          <a:prstGeom prst="rect">
            <a:avLst/>
          </a:prstGeom>
        </p:spPr>
      </p:pic>
      <p:pic>
        <p:nvPicPr>
          <p:cNvPr id="10" name="Image 3" descr="preencoded.png"/>
          <p:cNvPicPr>
            <a:picLocks noChangeAspect="1"/>
          </p:cNvPicPr>
          <p:nvPr/>
        </p:nvPicPr>
        <p:blipFill>
          <a:blip r:embed="rId6"/>
          <a:stretch>
            <a:fillRect/>
          </a:stretch>
        </p:blipFill>
        <p:spPr>
          <a:xfrm>
            <a:off x="8456176" y="2922151"/>
            <a:ext cx="335637" cy="419576"/>
          </a:xfrm>
          <a:prstGeom prst="rect">
            <a:avLst/>
          </a:prstGeom>
        </p:spPr>
      </p:pic>
      <p:sp>
        <p:nvSpPr>
          <p:cNvPr id="11" name="Text 5"/>
          <p:cNvSpPr/>
          <p:nvPr/>
        </p:nvSpPr>
        <p:spPr>
          <a:xfrm>
            <a:off x="9937194" y="4677489"/>
            <a:ext cx="2804160" cy="350401"/>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Uji Keamanan</a:t>
            </a:r>
            <a:endParaRPr lang="en-US" sz="2200" dirty="0"/>
          </a:p>
        </p:txBody>
      </p:sp>
      <p:sp>
        <p:nvSpPr>
          <p:cNvPr id="12" name="Text 6"/>
          <p:cNvSpPr/>
          <p:nvPr/>
        </p:nvSpPr>
        <p:spPr>
          <a:xfrm>
            <a:off x="9937194" y="5162431"/>
            <a:ext cx="3908107" cy="717709"/>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Cegah duplikasi kartu RFID dan akses tidak sah</a:t>
            </a:r>
            <a:endParaRPr lang="en-US" sz="1750" dirty="0"/>
          </a:p>
        </p:txBody>
      </p:sp>
      <p:pic>
        <p:nvPicPr>
          <p:cNvPr id="13" name="Image 4" descr="preencoded.png"/>
          <p:cNvPicPr>
            <a:picLocks noChangeAspect="1"/>
          </p:cNvPicPr>
          <p:nvPr/>
        </p:nvPicPr>
        <p:blipFill>
          <a:blip r:embed="rId7"/>
          <a:stretch>
            <a:fillRect/>
          </a:stretch>
        </p:blipFill>
        <p:spPr>
          <a:xfrm>
            <a:off x="5029676" y="1766411"/>
            <a:ext cx="4571048" cy="4571048"/>
          </a:xfrm>
          <a:prstGeom prst="rect">
            <a:avLst/>
          </a:prstGeom>
        </p:spPr>
      </p:pic>
      <p:pic>
        <p:nvPicPr>
          <p:cNvPr id="14" name="Image 5" descr="preencoded.png"/>
          <p:cNvPicPr>
            <a:picLocks noChangeAspect="1"/>
          </p:cNvPicPr>
          <p:nvPr/>
        </p:nvPicPr>
        <p:blipFill>
          <a:blip r:embed="rId8"/>
          <a:stretch>
            <a:fillRect/>
          </a:stretch>
        </p:blipFill>
        <p:spPr>
          <a:xfrm>
            <a:off x="8067199" y="5151001"/>
            <a:ext cx="335637" cy="419576"/>
          </a:xfrm>
          <a:prstGeom prst="rect">
            <a:avLst/>
          </a:prstGeom>
        </p:spPr>
      </p:pic>
      <p:sp>
        <p:nvSpPr>
          <p:cNvPr id="15" name="Text 7"/>
          <p:cNvSpPr/>
          <p:nvPr/>
        </p:nvSpPr>
        <p:spPr>
          <a:xfrm>
            <a:off x="1889046" y="4677489"/>
            <a:ext cx="2804160" cy="350401"/>
          </a:xfrm>
          <a:prstGeom prst="rect">
            <a:avLst/>
          </a:prstGeom>
          <a:noFill/>
          <a:ln/>
        </p:spPr>
        <p:txBody>
          <a:bodyPr wrap="none" lIns="0" tIns="0" rIns="0" bIns="0" rtlCol="0" anchor="t"/>
          <a:lstStyle/>
          <a:p>
            <a:pPr marL="0" indent="0" algn="r">
              <a:lnSpc>
                <a:spcPts val="2750"/>
              </a:lnSpc>
              <a:buNone/>
            </a:pPr>
            <a:r>
              <a:rPr lang="en-US" sz="2200" dirty="0">
                <a:solidFill>
                  <a:srgbClr val="DCD7E5"/>
                </a:solidFill>
                <a:latin typeface="Montserrat" pitchFamily="34" charset="0"/>
                <a:ea typeface="Montserrat" pitchFamily="34" charset="-122"/>
                <a:cs typeface="Montserrat" pitchFamily="34" charset="-120"/>
              </a:rPr>
              <a:t>Pengembangan</a:t>
            </a:r>
            <a:endParaRPr lang="en-US" sz="2200" dirty="0"/>
          </a:p>
        </p:txBody>
      </p:sp>
      <p:sp>
        <p:nvSpPr>
          <p:cNvPr id="16" name="Text 8"/>
          <p:cNvSpPr/>
          <p:nvPr/>
        </p:nvSpPr>
        <p:spPr>
          <a:xfrm>
            <a:off x="785098" y="5162431"/>
            <a:ext cx="3908107" cy="717709"/>
          </a:xfrm>
          <a:prstGeom prst="rect">
            <a:avLst/>
          </a:prstGeom>
          <a:noFill/>
          <a:ln/>
        </p:spPr>
        <p:txBody>
          <a:bodyPr wrap="square" lIns="0" tIns="0" rIns="0" bIns="0" rtlCol="0" anchor="t"/>
          <a:lstStyle/>
          <a:p>
            <a:pPr marL="0" indent="0" algn="r">
              <a:lnSpc>
                <a:spcPts val="2800"/>
              </a:lnSpc>
              <a:buNone/>
            </a:pPr>
            <a:r>
              <a:rPr lang="en-US" sz="1750" dirty="0">
                <a:solidFill>
                  <a:srgbClr val="DCD7E5"/>
                </a:solidFill>
                <a:latin typeface="Heebo Light" pitchFamily="34" charset="0"/>
                <a:ea typeface="Heebo Light" pitchFamily="34" charset="-122"/>
                <a:cs typeface="Heebo Light" pitchFamily="34" charset="-120"/>
              </a:rPr>
              <a:t>Integrasi dengan sistem pembayaran SPP dan fitur GPS</a:t>
            </a:r>
            <a:endParaRPr lang="en-US" sz="1750" dirty="0"/>
          </a:p>
        </p:txBody>
      </p:sp>
      <p:pic>
        <p:nvPicPr>
          <p:cNvPr id="17" name="Image 6" descr="preencoded.png"/>
          <p:cNvPicPr>
            <a:picLocks noChangeAspect="1"/>
          </p:cNvPicPr>
          <p:nvPr/>
        </p:nvPicPr>
        <p:blipFill>
          <a:blip r:embed="rId9"/>
          <a:stretch>
            <a:fillRect/>
          </a:stretch>
        </p:blipFill>
        <p:spPr>
          <a:xfrm>
            <a:off x="5029676" y="1766411"/>
            <a:ext cx="4571048" cy="4571048"/>
          </a:xfrm>
          <a:prstGeom prst="rect">
            <a:avLst/>
          </a:prstGeom>
        </p:spPr>
      </p:pic>
      <p:pic>
        <p:nvPicPr>
          <p:cNvPr id="18" name="Image 7" descr="preencoded.png"/>
          <p:cNvPicPr>
            <a:picLocks noChangeAspect="1"/>
          </p:cNvPicPr>
          <p:nvPr/>
        </p:nvPicPr>
        <p:blipFill>
          <a:blip r:embed="rId10"/>
          <a:stretch>
            <a:fillRect/>
          </a:stretch>
        </p:blipFill>
        <p:spPr>
          <a:xfrm>
            <a:off x="5838349" y="4762024"/>
            <a:ext cx="335637" cy="419576"/>
          </a:xfrm>
          <a:prstGeom prst="rect">
            <a:avLst/>
          </a:prstGeom>
        </p:spPr>
      </p:pic>
      <p:sp>
        <p:nvSpPr>
          <p:cNvPr id="19" name="Text 9"/>
          <p:cNvSpPr/>
          <p:nvPr/>
        </p:nvSpPr>
        <p:spPr>
          <a:xfrm>
            <a:off x="785098" y="6589752"/>
            <a:ext cx="13060204" cy="1076563"/>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Sistem diharapkan berjalan stabil dengan akurasi 99% dan orang tua menerima notifikasi dalam waktu singkat. Untuk pengembangan masa depan, sistem dapat diintegrasikan dengan pembayaran SPP dan penambahan fitur GPS untuk verifikasi lokasi absen, menjadikannya solusi yang lebih komprehensif.</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770</Words>
  <Application>Microsoft Office PowerPoint</Application>
  <PresentationFormat>Custom</PresentationFormat>
  <Paragraphs>109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Montserrat</vt:lpstr>
      <vt:lpstr>Arial</vt:lpstr>
      <vt:lpstr>Heebo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farras jasir</cp:lastModifiedBy>
  <cp:revision>2</cp:revision>
  <dcterms:created xsi:type="dcterms:W3CDTF">2025-04-30T05:52:05Z</dcterms:created>
  <dcterms:modified xsi:type="dcterms:W3CDTF">2025-04-30T08:39:46Z</dcterms:modified>
</cp:coreProperties>
</file>